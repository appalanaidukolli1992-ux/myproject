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9601200" cy="12801600" type="A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40" y="-3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pala Naidu Kolli (External - TATA Consultancy Services Sverige AB)" userId="4876f33e-0c01-4674-977a-e27d19c181f6" providerId="ADAL" clId="{3DE640F1-E446-4C67-BD62-B2D4412048EE}"/>
    <pc:docChg chg="modSld">
      <pc:chgData name="Appala Naidu Kolli (External - TATA Consultancy Services Sverige AB)" userId="4876f33e-0c01-4674-977a-e27d19c181f6" providerId="ADAL" clId="{3DE640F1-E446-4C67-BD62-B2D4412048EE}" dt="2025-12-04T19:18:08.097" v="0" actId="20577"/>
      <pc:docMkLst>
        <pc:docMk/>
      </pc:docMkLst>
      <pc:sldChg chg="modSp mod">
        <pc:chgData name="Appala Naidu Kolli (External - TATA Consultancy Services Sverige AB)" userId="4876f33e-0c01-4674-977a-e27d19c181f6" providerId="ADAL" clId="{3DE640F1-E446-4C67-BD62-B2D4412048EE}" dt="2025-12-04T19:18:08.097" v="0" actId="20577"/>
        <pc:sldMkLst>
          <pc:docMk/>
          <pc:sldMk cId="0" sldId="257"/>
        </pc:sldMkLst>
        <pc:spChg chg="mod">
          <ac:chgData name="Appala Naidu Kolli (External - TATA Consultancy Services Sverige AB)" userId="4876f33e-0c01-4674-977a-e27d19c181f6" providerId="ADAL" clId="{3DE640F1-E446-4C67-BD62-B2D4412048EE}" dt="2025-12-04T19:18:08.097" v="0" actId="20577"/>
          <ac:spMkLst>
            <pc:docMk/>
            <pc:sldMk cId="0" sldId="257"/>
            <ac:spMk id="6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29EB486C-0213-472A-868D-6D7F3BF01E7E}" type="datetimeFigureOut">
              <a:rPr lang="en-SE" smtClean="0"/>
              <a:t>12/04/2025</a:t>
            </a:fld>
            <a:endParaRPr lang="en-SE"/>
          </a:p>
        </p:txBody>
      </p:sp>
      <p:sp>
        <p:nvSpPr>
          <p:cNvPr id="4" name="Slide Image Placeholder 3"/>
          <p:cNvSpPr>
            <a:spLocks noGrp="1" noRot="1" noChangeAspect="1"/>
          </p:cNvSpPr>
          <p:nvPr>
            <p:ph type="sldImg" idx="2"/>
          </p:nvPr>
        </p:nvSpPr>
        <p:spPr>
          <a:xfrm>
            <a:off x="2427288" y="1336675"/>
            <a:ext cx="2705100" cy="3608388"/>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A4922B04-C2E3-431B-A8A4-B6432F46D7F3}" type="slidenum">
              <a:rPr lang="en-SE" smtClean="0"/>
              <a:t>‹#›</a:t>
            </a:fld>
            <a:endParaRPr lang="en-SE"/>
          </a:p>
        </p:txBody>
      </p:sp>
    </p:spTree>
    <p:extLst>
      <p:ext uri="{BB962C8B-B14F-4D97-AF65-F5344CB8AC3E}">
        <p14:creationId xmlns:p14="http://schemas.microsoft.com/office/powerpoint/2010/main" val="470997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A4922B04-C2E3-431B-A8A4-B6432F46D7F3}" type="slidenum">
              <a:rPr lang="en-SE" smtClean="0"/>
              <a:t>1</a:t>
            </a:fld>
            <a:endParaRPr lang="en-SE"/>
          </a:p>
        </p:txBody>
      </p:sp>
    </p:spTree>
    <p:extLst>
      <p:ext uri="{BB962C8B-B14F-4D97-AF65-F5344CB8AC3E}">
        <p14:creationId xmlns:p14="http://schemas.microsoft.com/office/powerpoint/2010/main" val="2736033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A4922B04-C2E3-431B-A8A4-B6432F46D7F3}" type="slidenum">
              <a:rPr lang="en-SE" smtClean="0"/>
              <a:t>2</a:t>
            </a:fld>
            <a:endParaRPr lang="en-SE"/>
          </a:p>
        </p:txBody>
      </p:sp>
    </p:spTree>
    <p:extLst>
      <p:ext uri="{BB962C8B-B14F-4D97-AF65-F5344CB8AC3E}">
        <p14:creationId xmlns:p14="http://schemas.microsoft.com/office/powerpoint/2010/main" val="244715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3" name="PlaceHolder 2"/>
          <p:cNvSpPr>
            <a:spLocks noGrp="1"/>
          </p:cNvSpPr>
          <p:nvPr>
            <p:ph type="subTitle"/>
          </p:nvPr>
        </p:nvSpPr>
        <p:spPr>
          <a:xfrm>
            <a:off x="479880" y="2995560"/>
            <a:ext cx="8640720" cy="742428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5" name="PlaceHolder 2"/>
          <p:cNvSpPr>
            <a:spLocks noGrp="1"/>
          </p:cNvSpPr>
          <p:nvPr>
            <p:ph type="body"/>
          </p:nvPr>
        </p:nvSpPr>
        <p:spPr>
          <a:xfrm>
            <a:off x="479880" y="2995560"/>
            <a:ext cx="8640720" cy="742428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7" name="PlaceHolder 2"/>
          <p:cNvSpPr>
            <a:spLocks noGrp="1"/>
          </p:cNvSpPr>
          <p:nvPr>
            <p:ph type="body"/>
          </p:nvPr>
        </p:nvSpPr>
        <p:spPr>
          <a:xfrm>
            <a:off x="479880" y="2995560"/>
            <a:ext cx="4216320" cy="742428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8" name="PlaceHolder 3"/>
          <p:cNvSpPr>
            <a:spLocks noGrp="1"/>
          </p:cNvSpPr>
          <p:nvPr>
            <p:ph type="body"/>
          </p:nvPr>
        </p:nvSpPr>
        <p:spPr>
          <a:xfrm>
            <a:off x="4907520" y="2995560"/>
            <a:ext cx="4216320" cy="742428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720000" y="2095200"/>
            <a:ext cx="8160480" cy="2065716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12" name="PlaceHolder 2"/>
          <p:cNvSpPr>
            <a:spLocks noGrp="1"/>
          </p:cNvSpPr>
          <p:nvPr>
            <p:ph type="body"/>
          </p:nvPr>
        </p:nvSpPr>
        <p:spPr>
          <a:xfrm>
            <a:off x="479880" y="299556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13" name="PlaceHolder 3"/>
          <p:cNvSpPr>
            <a:spLocks noGrp="1"/>
          </p:cNvSpPr>
          <p:nvPr>
            <p:ph type="body"/>
          </p:nvPr>
        </p:nvSpPr>
        <p:spPr>
          <a:xfrm>
            <a:off x="4907520" y="2995560"/>
            <a:ext cx="4216320" cy="742428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14" name="PlaceHolder 4"/>
          <p:cNvSpPr>
            <a:spLocks noGrp="1"/>
          </p:cNvSpPr>
          <p:nvPr>
            <p:ph type="body"/>
          </p:nvPr>
        </p:nvSpPr>
        <p:spPr>
          <a:xfrm>
            <a:off x="479880" y="687384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16" name="PlaceHolder 2"/>
          <p:cNvSpPr>
            <a:spLocks noGrp="1"/>
          </p:cNvSpPr>
          <p:nvPr>
            <p:ph type="body"/>
          </p:nvPr>
        </p:nvSpPr>
        <p:spPr>
          <a:xfrm>
            <a:off x="479880" y="2995560"/>
            <a:ext cx="4216320" cy="742428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17" name="PlaceHolder 3"/>
          <p:cNvSpPr>
            <a:spLocks noGrp="1"/>
          </p:cNvSpPr>
          <p:nvPr>
            <p:ph type="body"/>
          </p:nvPr>
        </p:nvSpPr>
        <p:spPr>
          <a:xfrm>
            <a:off x="4907520" y="299556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18" name="PlaceHolder 4"/>
          <p:cNvSpPr>
            <a:spLocks noGrp="1"/>
          </p:cNvSpPr>
          <p:nvPr>
            <p:ph type="body"/>
          </p:nvPr>
        </p:nvSpPr>
        <p:spPr>
          <a:xfrm>
            <a:off x="4907520" y="687384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20" name="PlaceHolder 2"/>
          <p:cNvSpPr>
            <a:spLocks noGrp="1"/>
          </p:cNvSpPr>
          <p:nvPr>
            <p:ph type="body"/>
          </p:nvPr>
        </p:nvSpPr>
        <p:spPr>
          <a:xfrm>
            <a:off x="479880" y="299556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21" name="PlaceHolder 3"/>
          <p:cNvSpPr>
            <a:spLocks noGrp="1"/>
          </p:cNvSpPr>
          <p:nvPr>
            <p:ph type="body"/>
          </p:nvPr>
        </p:nvSpPr>
        <p:spPr>
          <a:xfrm>
            <a:off x="4907520" y="299556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22" name="PlaceHolder 4"/>
          <p:cNvSpPr>
            <a:spLocks noGrp="1"/>
          </p:cNvSpPr>
          <p:nvPr>
            <p:ph type="body"/>
          </p:nvPr>
        </p:nvSpPr>
        <p:spPr>
          <a:xfrm>
            <a:off x="479880" y="6873840"/>
            <a:ext cx="8640720" cy="354132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24" name="PlaceHolder 2"/>
          <p:cNvSpPr>
            <a:spLocks noGrp="1"/>
          </p:cNvSpPr>
          <p:nvPr>
            <p:ph type="body"/>
          </p:nvPr>
        </p:nvSpPr>
        <p:spPr>
          <a:xfrm>
            <a:off x="479880" y="2995560"/>
            <a:ext cx="86407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25" name="PlaceHolder 3"/>
          <p:cNvSpPr>
            <a:spLocks noGrp="1"/>
          </p:cNvSpPr>
          <p:nvPr>
            <p:ph type="body"/>
          </p:nvPr>
        </p:nvSpPr>
        <p:spPr>
          <a:xfrm>
            <a:off x="479880" y="6873840"/>
            <a:ext cx="8640720" cy="354132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27" name="PlaceHolder 2"/>
          <p:cNvSpPr>
            <a:spLocks noGrp="1"/>
          </p:cNvSpPr>
          <p:nvPr>
            <p:ph type="body"/>
          </p:nvPr>
        </p:nvSpPr>
        <p:spPr>
          <a:xfrm>
            <a:off x="479880" y="299556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28" name="PlaceHolder 3"/>
          <p:cNvSpPr>
            <a:spLocks noGrp="1"/>
          </p:cNvSpPr>
          <p:nvPr>
            <p:ph type="body"/>
          </p:nvPr>
        </p:nvSpPr>
        <p:spPr>
          <a:xfrm>
            <a:off x="4907520" y="299556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29" name="PlaceHolder 4"/>
          <p:cNvSpPr>
            <a:spLocks noGrp="1"/>
          </p:cNvSpPr>
          <p:nvPr>
            <p:ph type="body"/>
          </p:nvPr>
        </p:nvSpPr>
        <p:spPr>
          <a:xfrm>
            <a:off x="479880" y="687384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30" name="PlaceHolder 5"/>
          <p:cNvSpPr>
            <a:spLocks noGrp="1"/>
          </p:cNvSpPr>
          <p:nvPr>
            <p:ph type="body"/>
          </p:nvPr>
        </p:nvSpPr>
        <p:spPr>
          <a:xfrm>
            <a:off x="4907520" y="6873840"/>
            <a:ext cx="4216320" cy="354132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720000" y="2095200"/>
            <a:ext cx="8160480" cy="4456080"/>
          </a:xfrm>
          <a:prstGeom prst="rect">
            <a:avLst/>
          </a:prstGeom>
        </p:spPr>
        <p:txBody>
          <a:bodyPr lIns="0" tIns="0" rIns="0" bIns="0" anchor="ctr">
            <a:noAutofit/>
          </a:bodyPr>
          <a:lstStyle/>
          <a:p>
            <a:endParaRPr lang="en-US" sz="1800" b="0" strike="noStrike" spc="-1">
              <a:solidFill>
                <a:srgbClr val="000000"/>
              </a:solidFill>
              <a:latin typeface="Arial"/>
            </a:endParaRPr>
          </a:p>
        </p:txBody>
      </p:sp>
      <p:sp>
        <p:nvSpPr>
          <p:cNvPr id="32" name="PlaceHolder 2"/>
          <p:cNvSpPr>
            <a:spLocks noGrp="1"/>
          </p:cNvSpPr>
          <p:nvPr>
            <p:ph type="body"/>
          </p:nvPr>
        </p:nvSpPr>
        <p:spPr>
          <a:xfrm>
            <a:off x="479880" y="2995560"/>
            <a:ext cx="278208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33" name="PlaceHolder 3"/>
          <p:cNvSpPr>
            <a:spLocks noGrp="1"/>
          </p:cNvSpPr>
          <p:nvPr>
            <p:ph type="body"/>
          </p:nvPr>
        </p:nvSpPr>
        <p:spPr>
          <a:xfrm>
            <a:off x="3401280" y="2995560"/>
            <a:ext cx="278208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34" name="PlaceHolder 4"/>
          <p:cNvSpPr>
            <a:spLocks noGrp="1"/>
          </p:cNvSpPr>
          <p:nvPr>
            <p:ph type="body"/>
          </p:nvPr>
        </p:nvSpPr>
        <p:spPr>
          <a:xfrm>
            <a:off x="6323040" y="2995560"/>
            <a:ext cx="278208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35" name="PlaceHolder 5"/>
          <p:cNvSpPr>
            <a:spLocks noGrp="1"/>
          </p:cNvSpPr>
          <p:nvPr>
            <p:ph type="body"/>
          </p:nvPr>
        </p:nvSpPr>
        <p:spPr>
          <a:xfrm>
            <a:off x="479880" y="6873840"/>
            <a:ext cx="278208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36" name="PlaceHolder 6"/>
          <p:cNvSpPr>
            <a:spLocks noGrp="1"/>
          </p:cNvSpPr>
          <p:nvPr>
            <p:ph type="body"/>
          </p:nvPr>
        </p:nvSpPr>
        <p:spPr>
          <a:xfrm>
            <a:off x="3401280" y="6873840"/>
            <a:ext cx="2782080" cy="3541320"/>
          </a:xfrm>
          <a:prstGeom prst="rect">
            <a:avLst/>
          </a:prstGeom>
        </p:spPr>
        <p:txBody>
          <a:bodyPr lIns="0" tIns="0" rIns="0" bIns="0">
            <a:normAutofit/>
          </a:bodyPr>
          <a:lstStyle/>
          <a:p>
            <a:endParaRPr lang="en-US" sz="2800" b="0" strike="noStrike" spc="-1">
              <a:solidFill>
                <a:srgbClr val="000000"/>
              </a:solidFill>
              <a:latin typeface="Arial"/>
            </a:endParaRPr>
          </a:p>
        </p:txBody>
      </p:sp>
      <p:sp>
        <p:nvSpPr>
          <p:cNvPr id="37" name="PlaceHolder 7"/>
          <p:cNvSpPr>
            <a:spLocks noGrp="1"/>
          </p:cNvSpPr>
          <p:nvPr>
            <p:ph type="body"/>
          </p:nvPr>
        </p:nvSpPr>
        <p:spPr>
          <a:xfrm>
            <a:off x="6323040" y="6873840"/>
            <a:ext cx="2782080" cy="3541320"/>
          </a:xfrm>
          <a:prstGeom prst="rect">
            <a:avLst/>
          </a:prstGeom>
        </p:spPr>
        <p:txBody>
          <a:bodyPr lIns="0" tIns="0" rIns="0" bIns="0">
            <a:normAutofit/>
          </a:bodyPr>
          <a:lstStyle/>
          <a:p>
            <a:endParaRPr lang="en-US"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20000" y="2095200"/>
            <a:ext cx="8160480" cy="4456080"/>
          </a:xfrm>
          <a:prstGeom prst="rect">
            <a:avLst/>
          </a:prstGeom>
        </p:spPr>
        <p:txBody>
          <a:bodyPr lIns="0" tIns="0" rIns="0" bIns="0" anchor="ctr">
            <a:noAutofit/>
          </a:bodyPr>
          <a:lstStyle/>
          <a:p>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479880" y="2995560"/>
            <a:ext cx="8640720" cy="7424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
        <p:nvSpPr>
          <p:cNvPr id="5" name="TextBox 4">
            <a:extLst>
              <a:ext uri="{FF2B5EF4-FFF2-40B4-BE49-F238E27FC236}">
                <a16:creationId xmlns:a16="http://schemas.microsoft.com/office/drawing/2014/main" id="{30E0F258-1BA1-C0E4-B992-DD440B0A1CB6}"/>
              </a:ext>
            </a:extLst>
          </p:cNvPr>
          <p:cNvSpPr txBox="1"/>
          <p:nvPr userDrawn="1">
            <p:extLst>
              <p:ext uri="{1162E1C5-73C7-4A58-AE30-91384D911F3F}">
                <p184:classification xmlns:p184="http://schemas.microsoft.com/office/powerpoint/2018/4/main" val="ftr"/>
              </p:ext>
            </p:extLst>
          </p:nvPr>
        </p:nvSpPr>
        <p:spPr>
          <a:xfrm>
            <a:off x="4613275" y="12616180"/>
            <a:ext cx="401638" cy="121920"/>
          </a:xfrm>
          <a:prstGeom prst="rect">
            <a:avLst/>
          </a:prstGeom>
        </p:spPr>
        <p:txBody>
          <a:bodyPr horzOverflow="overflow" lIns="0" tIns="0" rIns="0" bIns="0">
            <a:spAutoFit/>
          </a:bodyPr>
          <a:lstStyle/>
          <a:p>
            <a:pPr algn="l"/>
            <a:r>
              <a:rPr lang="en-US" sz="800">
                <a:solidFill>
                  <a:srgbClr val="5A5A5A">
                    <a:alpha val="50000"/>
                  </a:srgbClr>
                </a:solidFill>
                <a:latin typeface="Noto IKEA Latin" panose="020B0502040504020204" pitchFamily="34" charset="0"/>
              </a:rPr>
              <a:t>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Graphic 14"/>
          <p:cNvSpPr/>
          <p:nvPr/>
        </p:nvSpPr>
        <p:spPr>
          <a:xfrm>
            <a:off x="129488" y="333916"/>
            <a:ext cx="2853000" cy="11427268"/>
          </a:xfrm>
          <a:custGeom>
            <a:avLst/>
            <a:gdLst/>
            <a:ahLst/>
            <a:cxnLst/>
            <a:rect l="l" t="t" r="r" b="b"/>
            <a:pathLst>
              <a:path w="2456815" h="9988550">
                <a:moveTo>
                  <a:pt x="2456258" y="9988146"/>
                </a:moveTo>
                <a:lnTo>
                  <a:pt x="0" y="9988146"/>
                </a:lnTo>
                <a:lnTo>
                  <a:pt x="0" y="0"/>
                </a:lnTo>
                <a:lnTo>
                  <a:pt x="2456258" y="0"/>
                </a:lnTo>
                <a:lnTo>
                  <a:pt x="2456258" y="9988146"/>
                </a:lnTo>
                <a:close/>
              </a:path>
            </a:pathLst>
          </a:custGeom>
          <a:solidFill>
            <a:srgbClr val="D9D9D9"/>
          </a:solidFill>
          <a:ln w="0">
            <a:noFill/>
          </a:ln>
        </p:spPr>
        <p:style>
          <a:lnRef idx="0">
            <a:scrgbClr r="0" g="0" b="0"/>
          </a:lnRef>
          <a:fillRef idx="0">
            <a:scrgbClr r="0" g="0" b="0"/>
          </a:fillRef>
          <a:effectRef idx="0">
            <a:scrgbClr r="0" g="0" b="0"/>
          </a:effectRef>
          <a:fontRef idx="minor"/>
        </p:style>
        <p:txBody>
          <a:bodyPr/>
          <a:lstStyle/>
          <a:p>
            <a:endParaRPr lang="en-SE"/>
          </a:p>
        </p:txBody>
      </p:sp>
      <p:sp>
        <p:nvSpPr>
          <p:cNvPr id="39" name="Straight Connector 3"/>
          <p:cNvSpPr/>
          <p:nvPr/>
        </p:nvSpPr>
        <p:spPr>
          <a:xfrm>
            <a:off x="561960" y="12075840"/>
            <a:ext cx="8476920" cy="360"/>
          </a:xfrm>
          <a:prstGeom prst="line">
            <a:avLst/>
          </a:prstGeom>
          <a:ln>
            <a:solidFill>
              <a:srgbClr val="0070C0"/>
            </a:solidFill>
          </a:ln>
        </p:spPr>
        <p:style>
          <a:lnRef idx="1">
            <a:schemeClr val="accent1"/>
          </a:lnRef>
          <a:fillRef idx="0">
            <a:schemeClr val="accent1"/>
          </a:fillRef>
          <a:effectRef idx="0">
            <a:schemeClr val="accent1"/>
          </a:effectRef>
          <a:fontRef idx="minor"/>
        </p:style>
        <p:txBody>
          <a:bodyPr/>
          <a:lstStyle/>
          <a:p>
            <a:endParaRPr lang="en-SE"/>
          </a:p>
        </p:txBody>
      </p:sp>
      <p:pic>
        <p:nvPicPr>
          <p:cNvPr id="40" name="Picture 4"/>
          <p:cNvPicPr/>
          <p:nvPr/>
        </p:nvPicPr>
        <p:blipFill>
          <a:blip r:embed="rId3"/>
          <a:srcRect t="1264" b="1264"/>
          <a:stretch/>
        </p:blipFill>
        <p:spPr>
          <a:xfrm>
            <a:off x="425520" y="12129840"/>
            <a:ext cx="2064960" cy="629640"/>
          </a:xfrm>
          <a:prstGeom prst="rect">
            <a:avLst/>
          </a:prstGeom>
          <a:ln w="0">
            <a:noFill/>
          </a:ln>
        </p:spPr>
      </p:pic>
      <p:pic>
        <p:nvPicPr>
          <p:cNvPr id="42" name="Image 13"/>
          <p:cNvPicPr/>
          <p:nvPr/>
        </p:nvPicPr>
        <p:blipFill>
          <a:blip r:embed="rId4"/>
          <a:stretch/>
        </p:blipFill>
        <p:spPr>
          <a:xfrm>
            <a:off x="518760" y="4365720"/>
            <a:ext cx="184320" cy="174960"/>
          </a:xfrm>
          <a:prstGeom prst="rect">
            <a:avLst/>
          </a:prstGeom>
          <a:ln w="0">
            <a:noFill/>
          </a:ln>
        </p:spPr>
      </p:pic>
      <p:pic>
        <p:nvPicPr>
          <p:cNvPr id="43" name="Image 8"/>
          <p:cNvPicPr/>
          <p:nvPr/>
        </p:nvPicPr>
        <p:blipFill>
          <a:blip r:embed="rId5"/>
          <a:stretch/>
        </p:blipFill>
        <p:spPr>
          <a:xfrm>
            <a:off x="525862" y="4813163"/>
            <a:ext cx="142920" cy="214560"/>
          </a:xfrm>
          <a:prstGeom prst="rect">
            <a:avLst/>
          </a:prstGeom>
          <a:ln w="0">
            <a:noFill/>
          </a:ln>
        </p:spPr>
      </p:pic>
      <p:pic>
        <p:nvPicPr>
          <p:cNvPr id="44" name="Image 7"/>
          <p:cNvPicPr/>
          <p:nvPr/>
        </p:nvPicPr>
        <p:blipFill>
          <a:blip r:embed="rId6"/>
          <a:stretch/>
        </p:blipFill>
        <p:spPr>
          <a:xfrm>
            <a:off x="478800" y="3846600"/>
            <a:ext cx="264240" cy="264240"/>
          </a:xfrm>
          <a:prstGeom prst="rect">
            <a:avLst/>
          </a:prstGeom>
          <a:ln w="0">
            <a:noFill/>
          </a:ln>
        </p:spPr>
      </p:pic>
      <p:sp>
        <p:nvSpPr>
          <p:cNvPr id="45" name="TextBox 2047"/>
          <p:cNvSpPr/>
          <p:nvPr/>
        </p:nvSpPr>
        <p:spPr>
          <a:xfrm>
            <a:off x="753120" y="3807360"/>
            <a:ext cx="175968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pt-BR" sz="1400" spc="-1" dirty="0">
                <a:latin typeface="Calibri"/>
              </a:rPr>
              <a:t>+46-764337018</a:t>
            </a:r>
            <a:endParaRPr lang="pt-BR" sz="1400" b="0" strike="noStrike" spc="-1" dirty="0">
              <a:latin typeface="Calibri"/>
            </a:endParaRPr>
          </a:p>
        </p:txBody>
      </p:sp>
      <p:sp>
        <p:nvSpPr>
          <p:cNvPr id="46" name="TextBox 2049"/>
          <p:cNvSpPr/>
          <p:nvPr/>
        </p:nvSpPr>
        <p:spPr>
          <a:xfrm>
            <a:off x="622080" y="4744994"/>
            <a:ext cx="2459880" cy="646185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sv-SE" sz="1400" spc="-1" dirty="0" err="1">
                <a:latin typeface="Calibri"/>
                <a:ea typeface="Calibri"/>
                <a:cs typeface="Calibri"/>
              </a:rPr>
              <a:t>Dammsnäcksgrand</a:t>
            </a:r>
            <a:r>
              <a:rPr lang="sv-SE" sz="1400" spc="-1" dirty="0">
                <a:latin typeface="Calibri"/>
                <a:ea typeface="Calibri"/>
                <a:cs typeface="Calibri"/>
              </a:rPr>
              <a:t> 13 c</a:t>
            </a:r>
            <a:r>
              <a:rPr lang="en-IN" sz="1400" spc="-1" dirty="0">
                <a:latin typeface="Calibri"/>
                <a:ea typeface="Calibri"/>
                <a:cs typeface="Calibri"/>
              </a:rPr>
              <a:t>, Malmö, Sweden</a:t>
            </a:r>
            <a:endParaRPr lang="en-US" sz="1400" dirty="0">
              <a:latin typeface="Calibri"/>
            </a:endParaRPr>
          </a:p>
          <a:p>
            <a:endParaRPr lang="en-IN" sz="1200" spc="-1" dirty="0">
              <a:latin typeface="Calibri" panose="020F0502020204030204" pitchFamily="34" charset="0"/>
              <a:ea typeface="Calibri" panose="020F0502020204030204" pitchFamily="34" charset="0"/>
              <a:cs typeface="Calibri" panose="020F0502020204030204" pitchFamily="34" charset="0"/>
            </a:endParaRPr>
          </a:p>
          <a:p>
            <a:r>
              <a:rPr lang="en-IN" sz="1400" b="1" spc="-1" dirty="0">
                <a:latin typeface="Calibri"/>
                <a:ea typeface="Calibri"/>
                <a:cs typeface="Calibri"/>
              </a:rPr>
              <a:t>SKILL SET</a:t>
            </a:r>
            <a:endParaRPr lang="en-IN" sz="1400" spc="-1" dirty="0">
              <a:latin typeface="Calibri"/>
              <a:ea typeface="Calibri" panose="020F0502020204030204" pitchFamily="34" charset="0"/>
              <a:cs typeface="Arial"/>
            </a:endParaRPr>
          </a:p>
          <a:p>
            <a:r>
              <a:rPr lang="en-IN" sz="1400" b="1" spc="-1" dirty="0">
                <a:latin typeface="Calibri"/>
                <a:ea typeface="Calibri"/>
                <a:cs typeface="Calibri"/>
              </a:rPr>
              <a:t>Programming &amp; Frameworks: </a:t>
            </a:r>
            <a:endParaRPr lang="en-US" sz="1400" spc="-1" dirty="0">
              <a:latin typeface="Calibri"/>
              <a:ea typeface="Calibri"/>
              <a:cs typeface="Calibri"/>
            </a:endParaRPr>
          </a:p>
          <a:p>
            <a:r>
              <a:rPr lang="en-IN" sz="1400" spc="-1" dirty="0">
                <a:latin typeface="Calibri"/>
                <a:ea typeface="Calibri"/>
                <a:cs typeface="Calibri"/>
              </a:rPr>
              <a:t>C# (.NET), Asp. Net Core, Angular, PL/SQL &amp; JavaScript</a:t>
            </a:r>
            <a:endParaRPr lang="en-IN" sz="1400" b="1" spc="-1" dirty="0">
              <a:latin typeface="Calibri"/>
              <a:ea typeface="Calibri"/>
              <a:cs typeface="Calibri"/>
            </a:endParaRPr>
          </a:p>
          <a:p>
            <a:r>
              <a:rPr lang="en-IN" sz="1400" b="1" spc="-1" dirty="0">
                <a:latin typeface="Calibri"/>
                <a:ea typeface="Calibri"/>
                <a:cs typeface="Calibri"/>
              </a:rPr>
              <a:t>Cloud &amp; DevOps/ Tools:</a:t>
            </a:r>
            <a:endParaRPr lang="en-IN" sz="1400" spc="-1" dirty="0">
              <a:latin typeface="Calibri"/>
              <a:ea typeface="Calibri"/>
              <a:cs typeface="Calibri"/>
            </a:endParaRPr>
          </a:p>
          <a:p>
            <a:r>
              <a:rPr lang="en-IN" sz="1400" spc="-1" dirty="0">
                <a:latin typeface="Calibri"/>
                <a:ea typeface="Calibri"/>
                <a:cs typeface="Calibri"/>
              </a:rPr>
              <a:t>Microsoft  Azure, Git, GitHub, CI/CD Docker and Kubernetes</a:t>
            </a:r>
            <a:endParaRPr lang="en-IN" sz="1400" spc="-1" dirty="0">
              <a:latin typeface="Calibri" panose="020F0502020204030204" pitchFamily="34" charset="0"/>
              <a:ea typeface="Calibri" panose="020F0502020204030204" pitchFamily="34" charset="0"/>
              <a:cs typeface="Calibri" panose="020F0502020204030204" pitchFamily="34" charset="0"/>
            </a:endParaRPr>
          </a:p>
          <a:p>
            <a:r>
              <a:rPr lang="en-IN" sz="1400" b="1" spc="-1" dirty="0">
                <a:latin typeface="Calibri"/>
                <a:ea typeface="Calibri"/>
                <a:cs typeface="Calibri"/>
              </a:rPr>
              <a:t>BI &amp; Analytics Tools:</a:t>
            </a:r>
          </a:p>
          <a:p>
            <a:r>
              <a:rPr lang="en-IN" sz="1400" spc="-1" dirty="0" err="1">
                <a:latin typeface="Calibri"/>
                <a:ea typeface="Calibri"/>
                <a:cs typeface="Calibri"/>
              </a:rPr>
              <a:t>PowerBI</a:t>
            </a:r>
            <a:r>
              <a:rPr lang="en-IN" sz="1400" spc="-1" dirty="0">
                <a:latin typeface="Calibri"/>
                <a:ea typeface="Calibri"/>
                <a:cs typeface="Calibri"/>
              </a:rPr>
              <a:t>, Python, SQL</a:t>
            </a:r>
            <a:endParaRPr lang="en-IN" sz="1400" spc="-1" dirty="0">
              <a:latin typeface="Calibri" panose="020F0502020204030204" pitchFamily="34" charset="0"/>
              <a:ea typeface="Calibri" panose="020F0502020204030204" pitchFamily="34" charset="0"/>
              <a:cs typeface="Calibri" panose="020F0502020204030204" pitchFamily="34" charset="0"/>
            </a:endParaRPr>
          </a:p>
          <a:p>
            <a:r>
              <a:rPr lang="en-IN" sz="1400" b="1" spc="-1" dirty="0">
                <a:latin typeface="Calibri"/>
                <a:ea typeface="Calibri"/>
                <a:cs typeface="Calibri"/>
              </a:rPr>
              <a:t>Databases</a:t>
            </a:r>
            <a:r>
              <a:rPr lang="en-IN" sz="1400" spc="-1" dirty="0">
                <a:latin typeface="Calibri"/>
                <a:ea typeface="Calibri"/>
                <a:cs typeface="Calibri"/>
              </a:rPr>
              <a:t>: </a:t>
            </a:r>
            <a:endParaRPr lang="en-US" sz="1400" spc="-1" dirty="0">
              <a:latin typeface="Calibri"/>
              <a:ea typeface="Calibri"/>
              <a:cs typeface="Calibri"/>
            </a:endParaRPr>
          </a:p>
          <a:p>
            <a:r>
              <a:rPr lang="en-IN" sz="1400" spc="-1" dirty="0">
                <a:latin typeface="Calibri"/>
                <a:ea typeface="Calibri"/>
                <a:cs typeface="Calibri"/>
              </a:rPr>
              <a:t>SQL Server, MySQL , Postgres, MongoDB(Basics)</a:t>
            </a:r>
          </a:p>
          <a:p>
            <a:endParaRPr lang="en-US" altLang="en-US" sz="1400" dirty="0">
              <a:latin typeface="Calibri"/>
              <a:ea typeface="Calibri"/>
              <a:cs typeface="Calibri"/>
            </a:endParaRPr>
          </a:p>
          <a:p>
            <a:r>
              <a:rPr lang="en-IN" sz="1400" b="1" dirty="0">
                <a:latin typeface="Calibri"/>
                <a:ea typeface="Calibri"/>
                <a:cs typeface="Calibri"/>
              </a:rPr>
              <a:t>CERTIFICATIONS</a:t>
            </a:r>
          </a:p>
          <a:p>
            <a:pPr indent="-285750">
              <a:buFont typeface="Arial" panose="020B0604020202020204" pitchFamily="34" charset="0"/>
              <a:buChar char="•"/>
            </a:pPr>
            <a:r>
              <a:rPr lang="en-IN" sz="1400" spc="-1" dirty="0">
                <a:latin typeface="Calibri"/>
                <a:cs typeface="Calibri"/>
              </a:rPr>
              <a:t>TCS-</a:t>
            </a:r>
            <a:r>
              <a:rPr lang="en-IN" sz="1400" spc="-1" dirty="0" err="1">
                <a:latin typeface="Calibri"/>
                <a:cs typeface="Calibri"/>
              </a:rPr>
              <a:t>Wings2</a:t>
            </a:r>
            <a:r>
              <a:rPr lang="en-IN" sz="1400" spc="-1" dirty="0">
                <a:latin typeface="Calibri"/>
                <a:cs typeface="Calibri"/>
              </a:rPr>
              <a:t>:</a:t>
            </a:r>
            <a:r>
              <a:rPr lang="en-US" sz="1400" spc="-1" dirty="0">
                <a:latin typeface="Calibri"/>
                <a:cs typeface="Calibri"/>
              </a:rPr>
              <a:t> Dot Net Full Stack Developer with Angular Specialization </a:t>
            </a:r>
          </a:p>
          <a:p>
            <a:pPr indent="-285750">
              <a:buFont typeface="Arial" panose="020B0604020202020204" pitchFamily="34" charset="0"/>
              <a:buChar char="•"/>
            </a:pPr>
            <a:r>
              <a:rPr lang="en-IN" sz="1400" spc="-1" dirty="0">
                <a:latin typeface="Calibri"/>
                <a:cs typeface="Calibri"/>
              </a:rPr>
              <a:t>Certified Scrum Master</a:t>
            </a:r>
          </a:p>
          <a:p>
            <a:pPr indent="-285750">
              <a:buFont typeface="Arial" panose="020B0604020202020204" pitchFamily="34" charset="0"/>
              <a:buChar char="•"/>
            </a:pPr>
            <a:r>
              <a:rPr lang="en-IN" sz="1400" spc="-1" dirty="0">
                <a:latin typeface="Calibri"/>
                <a:cs typeface="Calibri"/>
              </a:rPr>
              <a:t>Digital: Cloud DevOps</a:t>
            </a:r>
          </a:p>
          <a:p>
            <a:pPr marL="635"/>
            <a:endParaRPr lang="en-IN" sz="1200" dirty="0">
              <a:latin typeface="Calibri"/>
              <a:ea typeface="Calibri"/>
              <a:cs typeface="Calibri"/>
            </a:endParaRPr>
          </a:p>
          <a:p>
            <a:r>
              <a:rPr lang="en-IN" sz="1400" b="1" dirty="0">
                <a:latin typeface="Calibri"/>
                <a:ea typeface="Calibri"/>
                <a:cs typeface="Calibri"/>
              </a:rPr>
              <a:t>EDUCATION</a:t>
            </a:r>
            <a:endParaRPr lang="en-IN" sz="1400" dirty="0">
              <a:latin typeface="Calibri"/>
              <a:ea typeface="Calibri"/>
              <a:cs typeface="+mn-lt"/>
            </a:endParaRPr>
          </a:p>
          <a:p>
            <a:pPr marL="635"/>
            <a:r>
              <a:rPr lang="en-IN" sz="1400" dirty="0">
                <a:latin typeface="Calibri"/>
                <a:ea typeface="+mn-lt"/>
                <a:cs typeface="+mn-lt"/>
              </a:rPr>
              <a:t>Master of Computer Applications (</a:t>
            </a:r>
            <a:r>
              <a:rPr lang="en-IN" sz="1400" dirty="0" err="1">
                <a:latin typeface="Calibri"/>
                <a:ea typeface="+mn-lt"/>
                <a:cs typeface="+mn-lt"/>
              </a:rPr>
              <a:t>M.C.A</a:t>
            </a:r>
            <a:r>
              <a:rPr lang="en-IN" sz="1400" dirty="0">
                <a:latin typeface="Calibri"/>
                <a:ea typeface="+mn-lt"/>
                <a:cs typeface="+mn-lt"/>
              </a:rPr>
              <a:t>)</a:t>
            </a:r>
          </a:p>
          <a:p>
            <a:pPr marL="635"/>
            <a:r>
              <a:rPr lang="en-IN" sz="1400" dirty="0">
                <a:latin typeface="Calibri"/>
                <a:ea typeface="+mn-lt"/>
                <a:cs typeface="+mn-lt"/>
              </a:rPr>
              <a:t>Andhra University, India.</a:t>
            </a:r>
            <a:endParaRPr lang="en-IN" sz="1400" spc="-1" dirty="0">
              <a:latin typeface="Calibri"/>
              <a:ea typeface="Calibri"/>
              <a:cs typeface="Calibri"/>
            </a:endParaRPr>
          </a:p>
          <a:p>
            <a:endParaRPr lang="en-IN" sz="1400" spc="-1" dirty="0">
              <a:latin typeface="Calibri" panose="020F0502020204030204" pitchFamily="34" charset="0"/>
              <a:ea typeface="Calibri" panose="020F0502020204030204" pitchFamily="34" charset="0"/>
              <a:cs typeface="Calibri" panose="020F0502020204030204" pitchFamily="34" charset="0"/>
            </a:endParaRPr>
          </a:p>
          <a:p>
            <a:endParaRPr lang="en-IN" sz="1200" spc="-1" dirty="0">
              <a:latin typeface="Calibri" panose="020F0502020204030204" pitchFamily="34" charset="0"/>
              <a:ea typeface="Calibri" panose="020F0502020204030204" pitchFamily="34" charset="0"/>
              <a:cs typeface="Calibri" panose="020F0502020204030204" pitchFamily="34" charset="0"/>
            </a:endParaRPr>
          </a:p>
        </p:txBody>
      </p:sp>
      <p:sp>
        <p:nvSpPr>
          <p:cNvPr id="47" name="TextBox 2051"/>
          <p:cNvSpPr/>
          <p:nvPr/>
        </p:nvSpPr>
        <p:spPr>
          <a:xfrm>
            <a:off x="739702" y="4303440"/>
            <a:ext cx="2242786"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400" spc="-1" dirty="0" err="1">
                <a:solidFill>
                  <a:srgbClr val="000000"/>
                </a:solidFill>
                <a:latin typeface="Calibri"/>
                <a:ea typeface="Calibri"/>
              </a:rPr>
              <a:t>Appalanaidu.kolli@</a:t>
            </a:r>
            <a:r>
              <a:rPr lang="en-IN" sz="1400" b="0" strike="noStrike" spc="-1" dirty="0" err="1">
                <a:solidFill>
                  <a:srgbClr val="000000"/>
                </a:solidFill>
                <a:latin typeface="Calibri"/>
                <a:ea typeface="Calibri"/>
              </a:rPr>
              <a:t>tcs.com</a:t>
            </a:r>
            <a:endParaRPr lang="en-IN" sz="1400" b="0" strike="noStrike" spc="-1" dirty="0">
              <a:solidFill>
                <a:srgbClr val="000000"/>
              </a:solidFill>
              <a:latin typeface="Arial"/>
              <a:ea typeface="Calibri"/>
            </a:endParaRPr>
          </a:p>
          <a:p>
            <a:endParaRPr lang="en-IN" sz="1400" spc="-1" dirty="0">
              <a:latin typeface="Calibri"/>
              <a:ea typeface="Calibri"/>
            </a:endParaRPr>
          </a:p>
        </p:txBody>
      </p:sp>
      <p:sp>
        <p:nvSpPr>
          <p:cNvPr id="48" name="TextBox 2055"/>
          <p:cNvSpPr/>
          <p:nvPr/>
        </p:nvSpPr>
        <p:spPr>
          <a:xfrm>
            <a:off x="753120" y="4721400"/>
            <a:ext cx="252504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400" b="0" strike="noStrike" spc="-1" dirty="0">
              <a:latin typeface="Calibri"/>
            </a:endParaRPr>
          </a:p>
        </p:txBody>
      </p:sp>
      <p:sp>
        <p:nvSpPr>
          <p:cNvPr id="49" name="TextBox 2069"/>
          <p:cNvSpPr/>
          <p:nvPr/>
        </p:nvSpPr>
        <p:spPr>
          <a:xfrm>
            <a:off x="3278160" y="259200"/>
            <a:ext cx="5907112" cy="119402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lnSpc>
                <a:spcPct val="100000"/>
              </a:lnSpc>
            </a:pPr>
            <a:r>
              <a:rPr lang="en-IN" sz="1400" b="1" u="sng" strike="noStrike" spc="-1" dirty="0">
                <a:solidFill>
                  <a:srgbClr val="000000"/>
                </a:solidFill>
                <a:latin typeface="Calibri"/>
                <a:ea typeface="Calibri"/>
              </a:rPr>
              <a:t>WORK EXPERIENCE</a:t>
            </a:r>
            <a:endParaRPr lang="en-IN" sz="1400" b="0" u="sng" strike="noStrike" spc="-1" dirty="0">
              <a:latin typeface="Arial"/>
            </a:endParaRPr>
          </a:p>
          <a:p>
            <a:pPr algn="just">
              <a:lnSpc>
                <a:spcPct val="100000"/>
              </a:lnSpc>
            </a:pPr>
            <a:endParaRPr lang="en-IN" sz="1400" b="0" strike="noStrike" spc="-1" dirty="0">
              <a:latin typeface="Arial"/>
            </a:endParaRPr>
          </a:p>
          <a:p>
            <a:r>
              <a:rPr lang="en-US" sz="1400" dirty="0">
                <a:latin typeface="Calibri" panose="020F0502020204030204" pitchFamily="34" charset="0"/>
                <a:ea typeface="Calibri" panose="020F0502020204030204" pitchFamily="34" charset="0"/>
                <a:cs typeface="Calibri" panose="020F0502020204030204" pitchFamily="34" charset="0"/>
              </a:rPr>
              <a:t>Results-oriented Dotnet developer with </a:t>
            </a:r>
            <a:r>
              <a:rPr lang="en-US" sz="1400" b="1" dirty="0">
                <a:latin typeface="Calibri" panose="020F0502020204030204" pitchFamily="34" charset="0"/>
                <a:ea typeface="Calibri" panose="020F0502020204030204" pitchFamily="34" charset="0"/>
                <a:cs typeface="Calibri" panose="020F0502020204030204" pitchFamily="34" charset="0"/>
              </a:rPr>
              <a:t>9+</a:t>
            </a:r>
            <a:r>
              <a:rPr lang="en-US" sz="1400" dirty="0">
                <a:latin typeface="Calibri" panose="020F0502020204030204" pitchFamily="34" charset="0"/>
                <a:ea typeface="Calibri" panose="020F0502020204030204" pitchFamily="34" charset="0"/>
                <a:cs typeface="Calibri" panose="020F0502020204030204" pitchFamily="34" charset="0"/>
              </a:rPr>
              <a:t> years of experience designing, developing, and maintaining enterprise-grade applications</a:t>
            </a:r>
          </a:p>
          <a:p>
            <a:r>
              <a:rPr lang="en-US" sz="1400" dirty="0">
                <a:latin typeface="Calibri" panose="020F0502020204030204" pitchFamily="34" charset="0"/>
                <a:ea typeface="Calibri" panose="020F0502020204030204" pitchFamily="34" charset="0"/>
                <a:cs typeface="Calibri" panose="020F0502020204030204" pitchFamily="34" charset="0"/>
              </a:rPr>
              <a:t>across .NET, .NET Core, C#, JavaScript, API, PL/SQL in Azure and on-prem environments at </a:t>
            </a:r>
            <a:r>
              <a:rPr lang="en-US" sz="1400" b="1" dirty="0">
                <a:latin typeface="Calibri" panose="020F0502020204030204" pitchFamily="34" charset="0"/>
                <a:ea typeface="Calibri" panose="020F0502020204030204" pitchFamily="34" charset="0"/>
                <a:cs typeface="Calibri" panose="020F0502020204030204" pitchFamily="34" charset="0"/>
              </a:rPr>
              <a:t>IKEA</a:t>
            </a:r>
            <a:r>
              <a:rPr lang="en-US" sz="1400" dirty="0">
                <a:latin typeface="Calibri" panose="020F0502020204030204" pitchFamily="34" charset="0"/>
                <a:ea typeface="Calibri" panose="020F0502020204030204" pitchFamily="34" charset="0"/>
                <a:cs typeface="Calibri" panose="020F0502020204030204" pitchFamily="34" charset="0"/>
              </a:rPr>
              <a:t>. Proven success in building scalable cloud based microservices, driving digital transformation, and automating workflows to enhance operational efficiency. Adept at cross functional collaboration, agile delivery, and delivering measurable business out comes.</a:t>
            </a:r>
          </a:p>
          <a:p>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b="1" u="sng" dirty="0">
                <a:latin typeface="Calibri" panose="020F0502020204030204" pitchFamily="34" charset="0"/>
                <a:ea typeface="Calibri" panose="020F0502020204030204" pitchFamily="34" charset="0"/>
                <a:cs typeface="Calibri" panose="020F0502020204030204" pitchFamily="34" charset="0"/>
              </a:rPr>
              <a:t>What I Bring to SEB</a:t>
            </a:r>
          </a:p>
          <a:p>
            <a:r>
              <a:rPr lang="en-US" sz="1400" b="1" dirty="0">
                <a:latin typeface="Calibri" panose="020F0502020204030204" pitchFamily="34" charset="0"/>
                <a:ea typeface="Calibri" panose="020F0502020204030204" pitchFamily="34" charset="0"/>
                <a:cs typeface="Calibri" panose="020F0502020204030204" pitchFamily="34" charset="0"/>
              </a:rPr>
              <a:t>Application Development: </a:t>
            </a:r>
            <a:r>
              <a:rPr lang="en-US" sz="1400" dirty="0">
                <a:latin typeface="Calibri" panose="020F0502020204030204" pitchFamily="34" charset="0"/>
                <a:ea typeface="Calibri" panose="020F0502020204030204" pitchFamily="34" charset="0"/>
                <a:cs typeface="Calibri" panose="020F0502020204030204" pitchFamily="34" charset="0"/>
              </a:rPr>
              <a:t>Migrated large-scale legacy systems to .</a:t>
            </a:r>
            <a:r>
              <a:rPr lang="en-US" sz="1400" b="1" dirty="0">
                <a:latin typeface="Calibri" panose="020F0502020204030204" pitchFamily="34" charset="0"/>
                <a:ea typeface="Calibri" panose="020F0502020204030204" pitchFamily="34" charset="0"/>
                <a:cs typeface="Calibri" panose="020F0502020204030204" pitchFamily="34" charset="0"/>
              </a:rPr>
              <a:t>NET </a:t>
            </a:r>
            <a:r>
              <a:rPr lang="en-US" sz="1400" dirty="0">
                <a:latin typeface="Calibri" panose="020F0502020204030204" pitchFamily="34" charset="0"/>
                <a:ea typeface="Calibri" panose="020F0502020204030204" pitchFamily="34" charset="0"/>
                <a:cs typeface="Calibri" panose="020F0502020204030204" pitchFamily="34" charset="0"/>
              </a:rPr>
              <a:t>Core microservices, improving scalability, security, and maintainability.</a:t>
            </a:r>
          </a:p>
          <a:p>
            <a:r>
              <a:rPr lang="en-US" sz="1400" b="1" dirty="0">
                <a:latin typeface="Calibri" panose="020F0502020204030204" pitchFamily="34" charset="0"/>
                <a:ea typeface="Calibri" panose="020F0502020204030204" pitchFamily="34" charset="0"/>
                <a:cs typeface="Calibri" panose="020F0502020204030204" pitchFamily="34" charset="0"/>
              </a:rPr>
              <a:t>Full lifecycle ownership of applications: </a:t>
            </a:r>
            <a:r>
              <a:rPr lang="en-US" sz="1400" dirty="0">
                <a:latin typeface="Calibri" panose="020F0502020204030204" pitchFamily="34" charset="0"/>
                <a:ea typeface="Calibri" panose="020F0502020204030204" pitchFamily="34" charset="0"/>
                <a:cs typeface="Calibri" panose="020F0502020204030204" pitchFamily="34" charset="0"/>
              </a:rPr>
              <a:t>covering feature development, testing, deployment, release management, maintenance, monitoring, and continuous improvement of application quality.</a:t>
            </a:r>
          </a:p>
          <a:p>
            <a:r>
              <a:rPr lang="en-US" sz="1400" b="1" dirty="0">
                <a:latin typeface="Calibri" panose="020F0502020204030204" pitchFamily="34" charset="0"/>
                <a:ea typeface="Calibri" panose="020F0502020204030204" pitchFamily="34" charset="0"/>
                <a:cs typeface="Calibri" panose="020F0502020204030204" pitchFamily="34" charset="0"/>
              </a:rPr>
              <a:t>API Engineering: </a:t>
            </a:r>
            <a:r>
              <a:rPr lang="en-US" sz="1400" dirty="0">
                <a:latin typeface="Calibri" panose="020F0502020204030204" pitchFamily="34" charset="0"/>
                <a:ea typeface="Calibri" panose="020F0502020204030204" pitchFamily="34" charset="0"/>
                <a:cs typeface="Calibri" panose="020F0502020204030204" pitchFamily="34" charset="0"/>
              </a:rPr>
              <a:t>Designed and implemented </a:t>
            </a:r>
            <a:r>
              <a:rPr lang="en-US" sz="1400" b="1" dirty="0">
                <a:latin typeface="Calibri" panose="020F0502020204030204" pitchFamily="34" charset="0"/>
                <a:ea typeface="Calibri" panose="020F0502020204030204" pitchFamily="34" charset="0"/>
                <a:cs typeface="Calibri" panose="020F0502020204030204" pitchFamily="34" charset="0"/>
              </a:rPr>
              <a:t>REST APIs </a:t>
            </a:r>
            <a:r>
              <a:rPr lang="en-US" sz="1400" dirty="0">
                <a:latin typeface="Calibri" panose="020F0502020204030204" pitchFamily="34" charset="0"/>
                <a:ea typeface="Calibri" panose="020F0502020204030204" pitchFamily="34" charset="0"/>
                <a:cs typeface="Calibri" panose="020F0502020204030204" pitchFamily="34" charset="0"/>
              </a:rPr>
              <a:t>for seamless integration with internal and external systems, enabling faster data exchange and customer-centric solutions.</a:t>
            </a:r>
          </a:p>
          <a:p>
            <a:r>
              <a:rPr lang="en-US" sz="1400" b="1" dirty="0">
                <a:latin typeface="Calibri" panose="020F0502020204030204" pitchFamily="34" charset="0"/>
                <a:ea typeface="Calibri" panose="020F0502020204030204" pitchFamily="34" charset="0"/>
                <a:cs typeface="Calibri" panose="020F0502020204030204" pitchFamily="34" charset="0"/>
              </a:rPr>
              <a:t>Performance &amp; Quality: </a:t>
            </a:r>
            <a:r>
              <a:rPr lang="en-US" sz="1400" dirty="0">
                <a:latin typeface="Calibri" panose="020F0502020204030204" pitchFamily="34" charset="0"/>
                <a:ea typeface="Calibri" panose="020F0502020204030204" pitchFamily="34" charset="0"/>
                <a:cs typeface="Calibri" panose="020F0502020204030204" pitchFamily="34" charset="0"/>
              </a:rPr>
              <a:t>Hands-on experience writing complex SQL queries, stored procedures, fine-tuning long-running queries, and setting up monitoring tools like Splunk, Catchpoint, and AppDynamics to track application logs and proactively identify and resolve production issues improving reliability and overall application quality.</a:t>
            </a:r>
          </a:p>
          <a:p>
            <a:r>
              <a:rPr lang="en-US" sz="1400" b="1" dirty="0">
                <a:latin typeface="Calibri" panose="020F0502020204030204" pitchFamily="34" charset="0"/>
                <a:ea typeface="Calibri" panose="020F0502020204030204" pitchFamily="34" charset="0"/>
                <a:cs typeface="Calibri" panose="020F0502020204030204" pitchFamily="34" charset="0"/>
              </a:rPr>
              <a:t>DevOps &amp; Automation:</a:t>
            </a:r>
            <a:r>
              <a:rPr lang="en-US" sz="1400" dirty="0">
                <a:latin typeface="Calibri" panose="020F0502020204030204" pitchFamily="34" charset="0"/>
                <a:ea typeface="Calibri" panose="020F0502020204030204" pitchFamily="34" charset="0"/>
                <a:cs typeface="Calibri" panose="020F0502020204030204" pitchFamily="34" charset="0"/>
              </a:rPr>
              <a:t> Built CI/CD pipelines in </a:t>
            </a:r>
            <a:r>
              <a:rPr lang="en-US" sz="1400" b="1" dirty="0">
                <a:latin typeface="Calibri" panose="020F0502020204030204" pitchFamily="34" charset="0"/>
                <a:ea typeface="Calibri" panose="020F0502020204030204" pitchFamily="34" charset="0"/>
                <a:cs typeface="Calibri" panose="020F0502020204030204" pitchFamily="34" charset="0"/>
              </a:rPr>
              <a:t>Azure DevOps </a:t>
            </a:r>
            <a:r>
              <a:rPr lang="en-US" sz="1400" dirty="0">
                <a:latin typeface="Calibri" panose="020F0502020204030204" pitchFamily="34" charset="0"/>
                <a:ea typeface="Calibri" panose="020F0502020204030204" pitchFamily="34" charset="0"/>
                <a:cs typeface="Calibri" panose="020F0502020204030204" pitchFamily="34" charset="0"/>
              </a:rPr>
              <a:t>and </a:t>
            </a:r>
            <a:r>
              <a:rPr lang="en-US" sz="1400" b="1" dirty="0">
                <a:latin typeface="Calibri" panose="020F0502020204030204" pitchFamily="34" charset="0"/>
                <a:ea typeface="Calibri" panose="020F0502020204030204" pitchFamily="34" charset="0"/>
                <a:cs typeface="Calibri" panose="020F0502020204030204" pitchFamily="34" charset="0"/>
              </a:rPr>
              <a:t>Jenkins</a:t>
            </a:r>
            <a:r>
              <a:rPr lang="en-US" sz="1400" dirty="0">
                <a:latin typeface="Calibri" panose="020F0502020204030204" pitchFamily="34" charset="0"/>
                <a:ea typeface="Calibri" panose="020F0502020204030204" pitchFamily="34" charset="0"/>
                <a:cs typeface="Calibri" panose="020F0502020204030204" pitchFamily="34" charset="0"/>
              </a:rPr>
              <a:t>, automated deployments using PowerShell and Docker, reducing release cycles and operational risk.</a:t>
            </a:r>
          </a:p>
          <a:p>
            <a:r>
              <a:rPr lang="en-US" sz="1400" b="1" dirty="0">
                <a:latin typeface="Calibri" panose="020F0502020204030204" pitchFamily="34" charset="0"/>
                <a:ea typeface="Calibri" panose="020F0502020204030204" pitchFamily="34" charset="0"/>
                <a:cs typeface="Calibri" panose="020F0502020204030204" pitchFamily="34" charset="0"/>
              </a:rPr>
              <a:t>Problem-Solving &amp; Adaptability</a:t>
            </a:r>
            <a:r>
              <a:rPr lang="en-US" sz="1400" dirty="0">
                <a:latin typeface="Calibri" panose="020F0502020204030204" pitchFamily="34" charset="0"/>
                <a:ea typeface="Calibri" panose="020F0502020204030204" pitchFamily="34" charset="0"/>
                <a:cs typeface="Calibri" panose="020F0502020204030204" pitchFamily="34" charset="0"/>
              </a:rPr>
              <a:t>: Strong analytical and critical thinking skills with the ability to adapt quickly to changing priorities and environments, ensuring timely and effective delivery</a:t>
            </a:r>
          </a:p>
          <a:p>
            <a:r>
              <a:rPr lang="en-US" sz="1400" b="1" dirty="0">
                <a:latin typeface="Calibri" panose="020F0502020204030204" pitchFamily="34" charset="0"/>
                <a:ea typeface="Calibri" panose="020F0502020204030204" pitchFamily="34" charset="0"/>
                <a:cs typeface="Calibri" panose="020F0502020204030204" pitchFamily="34" charset="0"/>
              </a:rPr>
              <a:t>Leadership &amp; Collaboration: </a:t>
            </a:r>
            <a:r>
              <a:rPr lang="en-US" sz="1400" dirty="0">
                <a:latin typeface="Calibri" panose="020F0502020204030204" pitchFamily="34" charset="0"/>
                <a:ea typeface="Calibri" panose="020F0502020204030204" pitchFamily="34" charset="0"/>
                <a:cs typeface="Calibri" panose="020F0502020204030204" pitchFamily="34" charset="0"/>
              </a:rPr>
              <a:t>Led a 7-member offshore team, driving delivery excellence through mentorship and coordination. Skilled at balancing individual contributions with team collaboration to achieve shared goals.</a:t>
            </a:r>
          </a:p>
          <a:p>
            <a:r>
              <a:rPr lang="en-US" sz="1400" b="1" dirty="0">
                <a:latin typeface="Calibri" panose="020F0502020204030204" pitchFamily="34" charset="0"/>
                <a:ea typeface="Calibri" panose="020F0502020204030204" pitchFamily="34" charset="0"/>
                <a:cs typeface="Calibri" panose="020F0502020204030204" pitchFamily="34" charset="0"/>
              </a:rPr>
              <a:t>Recognition &amp; Impact: </a:t>
            </a:r>
            <a:r>
              <a:rPr lang="en-US" sz="1400" dirty="0">
                <a:latin typeface="Calibri" panose="020F0502020204030204" pitchFamily="34" charset="0"/>
                <a:ea typeface="Calibri" panose="020F0502020204030204" pitchFamily="34" charset="0"/>
                <a:cs typeface="Calibri" panose="020F0502020204030204" pitchFamily="34" charset="0"/>
              </a:rPr>
              <a:t>Multiple client appreciations for identifying and implementing automation solutions for frequent user requests and successfully managing complex initiatives like database migrations with zero business disruption.</a:t>
            </a:r>
          </a:p>
          <a:p>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b="1" dirty="0">
                <a:latin typeface="Calibri" panose="020F0502020204030204" pitchFamily="34" charset="0"/>
                <a:ea typeface="Calibri" panose="020F0502020204030204" pitchFamily="34" charset="0"/>
                <a:cs typeface="Calibri" panose="020F0502020204030204" pitchFamily="34" charset="0"/>
              </a:rPr>
              <a:t>Why SEB Choose Me</a:t>
            </a:r>
          </a:p>
          <a:p>
            <a:r>
              <a:rPr lang="en-US" sz="1400" b="1" dirty="0">
                <a:latin typeface="Calibri" panose="020F0502020204030204" pitchFamily="34" charset="0"/>
                <a:ea typeface="Calibri" panose="020F0502020204030204" pitchFamily="34" charset="0"/>
                <a:cs typeface="Calibri" panose="020F0502020204030204" pitchFamily="34" charset="0"/>
              </a:rPr>
              <a:t>I can </a:t>
            </a:r>
            <a:r>
              <a:rPr lang="en-US" sz="1400" dirty="0">
                <a:latin typeface="Calibri" panose="020F0502020204030204" pitchFamily="34" charset="0"/>
                <a:ea typeface="Calibri" panose="020F0502020204030204" pitchFamily="34" charset="0"/>
                <a:cs typeface="Calibri" panose="020F0502020204030204" pitchFamily="34" charset="0"/>
              </a:rPr>
              <a:t>quickly adapt to new environments, understand business processes, and translate them into meaningful technical requirements to deliver trusted, standardized solutions</a:t>
            </a:r>
          </a:p>
          <a:p>
            <a:r>
              <a:rPr lang="en-US" sz="1400" b="1" dirty="0">
                <a:latin typeface="Calibri" panose="020F0502020204030204" pitchFamily="34" charset="0"/>
                <a:ea typeface="Calibri" panose="020F0502020204030204" pitchFamily="34" charset="0"/>
                <a:cs typeface="Calibri" panose="020F0502020204030204" pitchFamily="34" charset="0"/>
              </a:rPr>
              <a:t>I bring </a:t>
            </a:r>
            <a:r>
              <a:rPr lang="en-US" sz="1400" dirty="0">
                <a:latin typeface="Calibri" panose="020F0502020204030204" pitchFamily="34" charset="0"/>
                <a:ea typeface="Calibri" panose="020F0502020204030204" pitchFamily="34" charset="0"/>
                <a:cs typeface="Calibri" panose="020F0502020204030204" pitchFamily="34" charset="0"/>
              </a:rPr>
              <a:t>a proactive mindset with strong organizational skills and the ability to connect technical solutions to business objectives for measurable impact.</a:t>
            </a:r>
          </a:p>
          <a:p>
            <a:r>
              <a:rPr lang="en-US" sz="1400" b="1" dirty="0">
                <a:latin typeface="Calibri" panose="020F0502020204030204" pitchFamily="34" charset="0"/>
                <a:ea typeface="Calibri" panose="020F0502020204030204" pitchFamily="34" charset="0"/>
                <a:cs typeface="Calibri" panose="020F0502020204030204" pitchFamily="34" charset="0"/>
              </a:rPr>
              <a:t>I focus </a:t>
            </a:r>
            <a:r>
              <a:rPr lang="en-US" sz="1400" dirty="0">
                <a:latin typeface="Calibri" panose="020F0502020204030204" pitchFamily="34" charset="0"/>
                <a:ea typeface="Calibri" panose="020F0502020204030204" pitchFamily="34" charset="0"/>
                <a:cs typeface="Calibri" panose="020F0502020204030204" pitchFamily="34" charset="0"/>
              </a:rPr>
              <a:t>on user experience and continuous learning, ensuring every solution adds value beyond coding and aligns with overall business goals.</a:t>
            </a:r>
          </a:p>
          <a:p>
            <a:pPr marL="635" algn="just">
              <a:lnSpc>
                <a:spcPct val="100000"/>
              </a:lnSpc>
              <a:buClr>
                <a:srgbClr val="000000"/>
              </a:buClr>
            </a:pPr>
            <a:endParaRPr lang="en-US" sz="1400" spc="-1" dirty="0">
              <a:latin typeface="Calibri" panose="020F0502020204030204" pitchFamily="34" charset="0"/>
              <a:ea typeface="Calibri" panose="020F0502020204030204" pitchFamily="34" charset="0"/>
              <a:cs typeface="Calibri" panose="020F0502020204030204" pitchFamily="34" charset="0"/>
            </a:endParaRPr>
          </a:p>
          <a:p>
            <a:pPr marL="635" algn="just">
              <a:buClr>
                <a:srgbClr val="000000"/>
              </a:buClr>
            </a:pPr>
            <a:r>
              <a:rPr lang="en-US" sz="1400" spc="-1" dirty="0">
                <a:latin typeface="Calibri" panose="020F0502020204030204" pitchFamily="34" charset="0"/>
                <a:ea typeface="Calibri" panose="020F0502020204030204" pitchFamily="34" charset="0"/>
                <a:cs typeface="Calibri" panose="020F0502020204030204" pitchFamily="34" charset="0"/>
              </a:rPr>
              <a:t>With over 9 years working at </a:t>
            </a:r>
            <a:r>
              <a:rPr lang="en-US" sz="1400" b="1" spc="-1" dirty="0">
                <a:latin typeface="Calibri" panose="020F0502020204030204" pitchFamily="34" charset="0"/>
                <a:ea typeface="Calibri" panose="020F0502020204030204" pitchFamily="34" charset="0"/>
                <a:cs typeface="Calibri" panose="020F0502020204030204" pitchFamily="34" charset="0"/>
              </a:rPr>
              <a:t>IKEA</a:t>
            </a:r>
            <a:r>
              <a:rPr lang="en-US" sz="1400" spc="-1" dirty="0">
                <a:latin typeface="Calibri" panose="020F0502020204030204" pitchFamily="34" charset="0"/>
                <a:ea typeface="Calibri" panose="020F0502020204030204" pitchFamily="34" charset="0"/>
                <a:cs typeface="Calibri" panose="020F0502020204030204" pitchFamily="34" charset="0"/>
              </a:rPr>
              <a:t>, including 4 years in Sweden, I have contributed to multiple assignments across Range and Supply Chain development, proving my ability to work effectively in diverse teams. I believe I can be a strong cultural and technical fit, combining collaboration, adaptability, and a positive approach to achieve shared success.</a:t>
            </a:r>
            <a:endParaRPr lang="en-US" sz="1400" spc="-1" dirty="0">
              <a:solidFill>
                <a:srgbClr val="000000"/>
              </a:solidFill>
              <a:latin typeface="Calibri"/>
              <a:ea typeface="Calibri"/>
            </a:endParaRPr>
          </a:p>
          <a:p>
            <a:pPr marL="285750" indent="-285115" algn="just">
              <a:buClr>
                <a:srgbClr val="000000"/>
              </a:buClr>
              <a:buFont typeface="Arial"/>
              <a:buChar char="•"/>
            </a:pPr>
            <a:endParaRPr lang="en-US" sz="1400" spc="-1" dirty="0">
              <a:solidFill>
                <a:srgbClr val="000000"/>
              </a:solidFill>
              <a:latin typeface="Calibri"/>
              <a:ea typeface="Calibri"/>
            </a:endParaRPr>
          </a:p>
        </p:txBody>
      </p:sp>
      <p:sp>
        <p:nvSpPr>
          <p:cNvPr id="50" name="TextBox 2071"/>
          <p:cNvSpPr/>
          <p:nvPr/>
        </p:nvSpPr>
        <p:spPr>
          <a:xfrm>
            <a:off x="114288" y="2854017"/>
            <a:ext cx="285300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95250" algn="ctr"/>
            <a:r>
              <a:rPr lang="en-US" sz="2000" b="1" spc="-1" dirty="0">
                <a:solidFill>
                  <a:srgbClr val="444440"/>
                </a:solidFill>
                <a:latin typeface="Trebuchet MS"/>
              </a:rPr>
              <a:t>Appala naidu K</a:t>
            </a:r>
            <a:endParaRPr lang="en-US" dirty="0"/>
          </a:p>
        </p:txBody>
      </p:sp>
      <p:sp>
        <p:nvSpPr>
          <p:cNvPr id="53" name="Footer Placeholder 17"/>
          <p:cNvSpPr/>
          <p:nvPr/>
        </p:nvSpPr>
        <p:spPr>
          <a:xfrm>
            <a:off x="7621560" y="12202200"/>
            <a:ext cx="1416600" cy="34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IN" sz="1260" b="0" strike="noStrike" spc="-1" dirty="0">
                <a:solidFill>
                  <a:srgbClr val="787878"/>
                </a:solidFill>
                <a:latin typeface="Aptos"/>
                <a:ea typeface="DejaVu Sans"/>
              </a:rPr>
              <a:t>TCS Confidential</a:t>
            </a:r>
            <a:endParaRPr lang="en-IN" sz="1260" b="0" strike="noStrike" spc="-1" dirty="0">
              <a:latin typeface="Arial"/>
            </a:endParaRPr>
          </a:p>
        </p:txBody>
      </p:sp>
      <p:sp>
        <p:nvSpPr>
          <p:cNvPr id="54" name="TextBox 1"/>
          <p:cNvSpPr/>
          <p:nvPr/>
        </p:nvSpPr>
        <p:spPr>
          <a:xfrm>
            <a:off x="31320" y="3263425"/>
            <a:ext cx="28530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95250" algn="ctr"/>
            <a:r>
              <a:rPr lang="en-US" sz="1400" b="1" spc="41" dirty="0">
                <a:solidFill>
                  <a:srgbClr val="444440"/>
                </a:solidFill>
                <a:latin typeface="Calibri"/>
                <a:ea typeface="Trebuchet MS"/>
              </a:rPr>
              <a:t> Consultant</a:t>
            </a:r>
            <a:endParaRPr lang="en-IN" sz="1400" b="0" strike="noStrike" spc="-1" dirty="0">
              <a:latin typeface="Calibri"/>
            </a:endParaRPr>
          </a:p>
        </p:txBody>
      </p:sp>
      <p:sp>
        <p:nvSpPr>
          <p:cNvPr id="55" name="TextBox 2"/>
          <p:cNvSpPr/>
          <p:nvPr/>
        </p:nvSpPr>
        <p:spPr>
          <a:xfrm>
            <a:off x="425520" y="6275520"/>
            <a:ext cx="285300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endParaRPr lang="en-IN" sz="1800" b="0" strike="noStrike" spc="-1" dirty="0">
              <a:latin typeface="Arial"/>
            </a:endParaRPr>
          </a:p>
          <a:p>
            <a:pPr>
              <a:lnSpc>
                <a:spcPct val="100000"/>
              </a:lnSpc>
            </a:pPr>
            <a:endParaRPr lang="en-IN" sz="1800" b="0" strike="noStrike" spc="-1" dirty="0">
              <a:latin typeface="Arial"/>
            </a:endParaRPr>
          </a:p>
        </p:txBody>
      </p:sp>
      <p:pic>
        <p:nvPicPr>
          <p:cNvPr id="4" name="Picture 3" descr="A person sitting in a chair with his arms crossed&#10;&#10;AI-generated content may be incorrect.">
            <a:extLst>
              <a:ext uri="{FF2B5EF4-FFF2-40B4-BE49-F238E27FC236}">
                <a16:creationId xmlns:a16="http://schemas.microsoft.com/office/drawing/2014/main" id="{035D1DD2-1F00-5062-A965-94AE8D52B7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080" y="524195"/>
            <a:ext cx="1899122" cy="21547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traight Connector 3"/>
          <p:cNvSpPr/>
          <p:nvPr/>
        </p:nvSpPr>
        <p:spPr>
          <a:xfrm>
            <a:off x="561960" y="12075840"/>
            <a:ext cx="8476920" cy="360"/>
          </a:xfrm>
          <a:prstGeom prst="line">
            <a:avLst/>
          </a:prstGeom>
          <a:ln>
            <a:solidFill>
              <a:srgbClr val="0070C0"/>
            </a:solidFill>
          </a:ln>
        </p:spPr>
        <p:style>
          <a:lnRef idx="1">
            <a:schemeClr val="accent1"/>
          </a:lnRef>
          <a:fillRef idx="0">
            <a:schemeClr val="accent1"/>
          </a:fillRef>
          <a:effectRef idx="0">
            <a:schemeClr val="accent1"/>
          </a:effectRef>
          <a:fontRef idx="minor"/>
        </p:style>
        <p:txBody>
          <a:bodyPr/>
          <a:lstStyle/>
          <a:p>
            <a:endParaRPr lang="en-SE"/>
          </a:p>
        </p:txBody>
      </p:sp>
      <p:pic>
        <p:nvPicPr>
          <p:cNvPr id="59" name="Picture 4"/>
          <p:cNvPicPr/>
          <p:nvPr/>
        </p:nvPicPr>
        <p:blipFill>
          <a:blip r:embed="rId3"/>
          <a:srcRect t="1264" b="1264"/>
          <a:stretch/>
        </p:blipFill>
        <p:spPr>
          <a:xfrm>
            <a:off x="425520" y="12129840"/>
            <a:ext cx="2064960" cy="629640"/>
          </a:xfrm>
          <a:prstGeom prst="rect">
            <a:avLst/>
          </a:prstGeom>
          <a:ln w="0">
            <a:noFill/>
          </a:ln>
        </p:spPr>
      </p:pic>
      <p:sp>
        <p:nvSpPr>
          <p:cNvPr id="61" name="TextBox 12"/>
          <p:cNvSpPr/>
          <p:nvPr/>
        </p:nvSpPr>
        <p:spPr>
          <a:xfrm>
            <a:off x="286719" y="161740"/>
            <a:ext cx="9020013" cy="1107850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lnSpc>
                <a:spcPct val="100000"/>
              </a:lnSpc>
              <a:tabLst>
                <a:tab pos="0" algn="l"/>
              </a:tabLst>
            </a:pPr>
            <a:endParaRPr lang="en-IN" sz="1400" b="1" u="sng"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just">
              <a:lnSpc>
                <a:spcPct val="100000"/>
              </a:lnSpc>
              <a:tabLst>
                <a:tab pos="0" algn="l"/>
              </a:tabLst>
            </a:pPr>
            <a:r>
              <a:rPr lang="en-IN" sz="1400" b="1" u="sng"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PROJECT HIGHLIGHTS</a:t>
            </a:r>
          </a:p>
          <a:p>
            <a:pPr algn="just">
              <a:lnSpc>
                <a:spcPct val="100000"/>
              </a:lnSpc>
              <a:tabLst>
                <a:tab pos="0" algn="l"/>
              </a:tabLst>
            </a:pPr>
            <a:endParaRPr lang="en-IN" sz="1400" b="0" u="sng" strike="noStrike" spc="-1" dirty="0">
              <a:latin typeface="Calibri" panose="020F0502020204030204" pitchFamily="34" charset="0"/>
              <a:ea typeface="Calibri" panose="020F0502020204030204" pitchFamily="34" charset="0"/>
              <a:cs typeface="Calibri" panose="020F0502020204030204" pitchFamily="34" charset="0"/>
            </a:endParaRPr>
          </a:p>
          <a:p>
            <a:r>
              <a:rPr lang="sv-SE" sz="1400" b="1" dirty="0">
                <a:latin typeface="Calibri" panose="020F0502020204030204" pitchFamily="34" charset="0"/>
                <a:ea typeface="Calibri" panose="020F0502020204030204" pitchFamily="34" charset="0"/>
                <a:cs typeface="Calibri" panose="020F0502020204030204" pitchFamily="34" charset="0"/>
              </a:rPr>
              <a:t>Full Stack </a:t>
            </a:r>
            <a:r>
              <a:rPr lang="sv-SE" sz="1400" b="1" dirty="0" err="1">
                <a:latin typeface="Calibri" panose="020F0502020204030204" pitchFamily="34" charset="0"/>
                <a:ea typeface="Calibri" panose="020F0502020204030204" pitchFamily="34" charset="0"/>
                <a:cs typeface="Calibri" panose="020F0502020204030204" pitchFamily="34" charset="0"/>
              </a:rPr>
              <a:t>Engineer</a:t>
            </a:r>
            <a:r>
              <a:rPr lang="sv-SE" sz="1400" b="1" dirty="0">
                <a:latin typeface="Calibri" panose="020F0502020204030204" pitchFamily="34" charset="0"/>
                <a:ea typeface="Calibri" panose="020F0502020204030204" pitchFamily="34" charset="0"/>
                <a:cs typeface="Calibri" panose="020F0502020204030204" pitchFamily="34" charset="0"/>
              </a:rPr>
              <a:t> &amp; </a:t>
            </a:r>
            <a:r>
              <a:rPr lang="sv-SE" sz="1400" b="1" dirty="0" err="1">
                <a:latin typeface="Calibri" panose="020F0502020204030204" pitchFamily="34" charset="0"/>
                <a:ea typeface="Calibri" panose="020F0502020204030204" pitchFamily="34" charset="0"/>
                <a:cs typeface="Calibri" panose="020F0502020204030204" pitchFamily="34" charset="0"/>
              </a:rPr>
              <a:t>Analyst</a:t>
            </a:r>
            <a:r>
              <a:rPr lang="sv-SE" sz="1400" b="1" dirty="0">
                <a:latin typeface="Calibri" panose="020F0502020204030204" pitchFamily="34" charset="0"/>
                <a:ea typeface="Calibri" panose="020F0502020204030204" pitchFamily="34" charset="0"/>
                <a:cs typeface="Calibri" panose="020F0502020204030204" pitchFamily="34" charset="0"/>
              </a:rPr>
              <a:t>| TCS-IKEA </a:t>
            </a:r>
            <a:r>
              <a:rPr lang="sv-SE" sz="1400" b="1" dirty="0" err="1">
                <a:latin typeface="Calibri" panose="020F0502020204030204" pitchFamily="34" charset="0"/>
                <a:ea typeface="Calibri" panose="020F0502020204030204" pitchFamily="34" charset="0"/>
                <a:cs typeface="Calibri" panose="020F0502020204030204" pitchFamily="34" charset="0"/>
              </a:rPr>
              <a:t>Supply</a:t>
            </a:r>
            <a:r>
              <a:rPr lang="sv-SE" sz="1400" b="1" dirty="0">
                <a:latin typeface="Calibri" panose="020F0502020204030204" pitchFamily="34" charset="0"/>
                <a:ea typeface="Calibri" panose="020F0502020204030204" pitchFamily="34" charset="0"/>
                <a:cs typeface="Calibri" panose="020F0502020204030204" pitchFamily="34" charset="0"/>
              </a:rPr>
              <a:t>  | 2023 – Present                                                     </a:t>
            </a:r>
            <a:r>
              <a:rPr lang="sv-SE" sz="1400" b="1" dirty="0" err="1">
                <a:latin typeface="Calibri" panose="020F0502020204030204" pitchFamily="34" charset="0"/>
                <a:ea typeface="Calibri" panose="020F0502020204030204" pitchFamily="34" charset="0"/>
                <a:cs typeface="Calibri" panose="020F0502020204030204" pitchFamily="34" charset="0"/>
              </a:rPr>
              <a:t>Älmhult,Sweden</a:t>
            </a:r>
            <a:endParaRPr lang="sv-SE" sz="1400" b="1" dirty="0">
              <a:latin typeface="Calibri" panose="020F0502020204030204" pitchFamily="34" charset="0"/>
              <a:ea typeface="Calibri" panose="020F0502020204030204" pitchFamily="34" charset="0"/>
              <a:cs typeface="Calibri" panose="020F0502020204030204" pitchFamily="34" charset="0"/>
            </a:endParaRPr>
          </a:p>
          <a:p>
            <a:r>
              <a:rPr lang="en-US" sz="1400" dirty="0" err="1">
                <a:latin typeface="Calibri" panose="020F0502020204030204" pitchFamily="34" charset="0"/>
                <a:ea typeface="Calibri" panose="020F0502020204030204" pitchFamily="34" charset="0"/>
                <a:cs typeface="Calibri" panose="020F0502020204030204" pitchFamily="34" charset="0"/>
              </a:rPr>
              <a:t>GS1</a:t>
            </a:r>
            <a:r>
              <a:rPr lang="en-US" sz="1400" dirty="0">
                <a:latin typeface="Calibri" panose="020F0502020204030204" pitchFamily="34" charset="0"/>
                <a:ea typeface="Calibri" panose="020F0502020204030204" pitchFamily="34" charset="0"/>
                <a:cs typeface="Calibri" panose="020F0502020204030204" pitchFamily="34" charset="0"/>
              </a:rPr>
              <a:t> Standards embracing to IKEA Supply chain</a:t>
            </a:r>
          </a:p>
          <a:p>
            <a:endParaRPr lang="sv-SE" sz="1400" b="1" dirty="0">
              <a:latin typeface="Calibri" panose="020F0502020204030204" pitchFamily="34" charset="0"/>
              <a:ea typeface="Calibri" panose="020F0502020204030204" pitchFamily="34" charset="0"/>
              <a:cs typeface="Calibri" panose="020F0502020204030204" pitchFamily="34" charset="0"/>
            </a:endParaRPr>
          </a:p>
          <a:p>
            <a:r>
              <a:rPr lang="sv-SE" sz="1400" b="1" dirty="0" err="1">
                <a:latin typeface="Calibri" panose="020F0502020204030204" pitchFamily="34" charset="0"/>
                <a:ea typeface="Calibri" panose="020F0502020204030204" pitchFamily="34" charset="0"/>
                <a:cs typeface="Calibri" panose="020F0502020204030204" pitchFamily="34" charset="0"/>
              </a:rPr>
              <a:t>Functional</a:t>
            </a:r>
            <a:r>
              <a:rPr lang="sv-SE" sz="1400" b="1" dirty="0">
                <a:latin typeface="Calibri" panose="020F0502020204030204" pitchFamily="34" charset="0"/>
                <a:ea typeface="Calibri" panose="020F0502020204030204" pitchFamily="34" charset="0"/>
                <a:cs typeface="Calibri" panose="020F0502020204030204" pitchFamily="34" charset="0"/>
              </a:rPr>
              <a:t> </a:t>
            </a:r>
            <a:r>
              <a:rPr lang="sv-SE" sz="1400" b="1" dirty="0" err="1">
                <a:latin typeface="Calibri" panose="020F0502020204030204" pitchFamily="34" charset="0"/>
                <a:ea typeface="Calibri" panose="020F0502020204030204" pitchFamily="34" charset="0"/>
                <a:cs typeface="Calibri" panose="020F0502020204030204" pitchFamily="34" charset="0"/>
              </a:rPr>
              <a:t>Expertise</a:t>
            </a:r>
            <a:r>
              <a:rPr lang="sv-SE" sz="1400" b="1" dirty="0">
                <a:latin typeface="Calibri" panose="020F0502020204030204" pitchFamily="34" charset="0"/>
                <a:ea typeface="Calibri" panose="020F0502020204030204" pitchFamily="34" charset="0"/>
                <a:cs typeface="Calibri" panose="020F0502020204030204" pitchFamily="34" charset="0"/>
              </a:rPr>
              <a:t>:</a:t>
            </a:r>
            <a:endParaRPr lang="sv-SE" sz="1400" dirty="0">
              <a:latin typeface="Calibri" panose="020F0502020204030204" pitchFamily="34" charset="0"/>
              <a:ea typeface="Calibri" panose="020F0502020204030204" pitchFamily="34" charset="0"/>
              <a:cs typeface="Calibri" panose="020F0502020204030204" pitchFamily="34" charset="0"/>
            </a:endParaRPr>
          </a:p>
          <a:p>
            <a:r>
              <a:rPr lang="sv-SE" sz="1400" dirty="0" err="1">
                <a:latin typeface="Calibri" panose="020F0502020204030204" pitchFamily="34" charset="0"/>
                <a:ea typeface="Calibri" panose="020F0502020204030204" pitchFamily="34" charset="0"/>
                <a:cs typeface="Calibri" panose="020F0502020204030204" pitchFamily="34" charset="0"/>
              </a:rPr>
              <a:t>Embracing</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GS1</a:t>
            </a:r>
            <a:r>
              <a:rPr lang="sv-SE" sz="1400" dirty="0">
                <a:latin typeface="Calibri" panose="020F0502020204030204" pitchFamily="34" charset="0"/>
                <a:ea typeface="Calibri" panose="020F0502020204030204" pitchFamily="34" charset="0"/>
                <a:cs typeface="Calibri" panose="020F0502020204030204" pitchFamily="34" charset="0"/>
              </a:rPr>
              <a:t> Standards </a:t>
            </a:r>
            <a:r>
              <a:rPr lang="sv-SE" sz="1400" dirty="0" err="1">
                <a:latin typeface="Calibri" panose="020F0502020204030204" pitchFamily="34" charset="0"/>
                <a:ea typeface="Calibri" panose="020F0502020204030204" pitchFamily="34" charset="0"/>
                <a:cs typeface="Calibri" panose="020F0502020204030204" pitchFamily="34" charset="0"/>
              </a:rPr>
              <a:t>into</a:t>
            </a:r>
            <a:r>
              <a:rPr lang="sv-SE" sz="1400" dirty="0">
                <a:latin typeface="Calibri" panose="020F0502020204030204" pitchFamily="34" charset="0"/>
                <a:ea typeface="Calibri" panose="020F0502020204030204" pitchFamily="34" charset="0"/>
                <a:cs typeface="Calibri" panose="020F0502020204030204" pitchFamily="34" charset="0"/>
              </a:rPr>
              <a:t> IKEA digital </a:t>
            </a:r>
            <a:r>
              <a:rPr lang="sv-SE" sz="1400" dirty="0" err="1">
                <a:latin typeface="Calibri" panose="020F0502020204030204" pitchFamily="34" charset="0"/>
                <a:ea typeface="Calibri" panose="020F0502020204030204" pitchFamily="34" charset="0"/>
                <a:cs typeface="Calibri" panose="020F0502020204030204" pitchFamily="34" charset="0"/>
              </a:rPr>
              <a:t>ecosystems</a:t>
            </a:r>
            <a:r>
              <a:rPr lang="sv-SE" sz="1400" dirty="0">
                <a:latin typeface="Calibri" panose="020F0502020204030204" pitchFamily="34" charset="0"/>
                <a:ea typeface="Calibri" panose="020F0502020204030204" pitchFamily="34" charset="0"/>
                <a:cs typeface="Calibri" panose="020F0502020204030204" pitchFamily="34" charset="0"/>
              </a:rPr>
              <a:t>, master data </a:t>
            </a:r>
            <a:r>
              <a:rPr lang="sv-SE" sz="1400" dirty="0" err="1">
                <a:latin typeface="Calibri" panose="020F0502020204030204" pitchFamily="34" charset="0"/>
                <a:ea typeface="Calibri" panose="020F0502020204030204" pitchFamily="34" charset="0"/>
                <a:cs typeface="Calibri" panose="020F0502020204030204" pitchFamily="34" charset="0"/>
              </a:rPr>
              <a:t>standardization</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modernizing</a:t>
            </a:r>
            <a:r>
              <a:rPr lang="sv-SE" sz="1400" dirty="0">
                <a:latin typeface="Calibri" panose="020F0502020204030204" pitchFamily="34" charset="0"/>
                <a:ea typeface="Calibri" panose="020F0502020204030204" pitchFamily="34" charset="0"/>
                <a:cs typeface="Calibri" panose="020F0502020204030204" pitchFamily="34" charset="0"/>
              </a:rPr>
              <a:t> the </a:t>
            </a:r>
            <a:r>
              <a:rPr lang="sv-SE" sz="1400" dirty="0" err="1">
                <a:latin typeface="Calibri" panose="020F0502020204030204" pitchFamily="34" charset="0"/>
                <a:ea typeface="Calibri" panose="020F0502020204030204" pitchFamily="34" charset="0"/>
                <a:cs typeface="Calibri" panose="020F0502020204030204" pitchFamily="34" charset="0"/>
              </a:rPr>
              <a:t>existing</a:t>
            </a:r>
            <a:r>
              <a:rPr lang="sv-SE" sz="1400" dirty="0">
                <a:latin typeface="Calibri" panose="020F0502020204030204" pitchFamily="34" charset="0"/>
                <a:ea typeface="Calibri" panose="020F0502020204030204" pitchFamily="34" charset="0"/>
                <a:cs typeface="Calibri" panose="020F0502020204030204" pitchFamily="34" charset="0"/>
              </a:rPr>
              <a:t> digital </a:t>
            </a:r>
            <a:r>
              <a:rPr lang="sv-SE" sz="1400" dirty="0" err="1">
                <a:latin typeface="Calibri" panose="020F0502020204030204" pitchFamily="34" charset="0"/>
                <a:ea typeface="Calibri" panose="020F0502020204030204" pitchFamily="34" charset="0"/>
                <a:cs typeface="Calibri" panose="020F0502020204030204" pitchFamily="34" charset="0"/>
              </a:rPr>
              <a:t>platforms</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compliance</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adherence</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sustainability</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initiatives</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improvising</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product</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traceability</a:t>
            </a:r>
            <a:r>
              <a:rPr lang="sv-SE" sz="1400" dirty="0">
                <a:latin typeface="Calibri" panose="020F0502020204030204" pitchFamily="34" charset="0"/>
                <a:ea typeface="Calibri" panose="020F0502020204030204" pitchFamily="34" charset="0"/>
                <a:cs typeface="Calibri" panose="020F0502020204030204" pitchFamily="34" charset="0"/>
              </a:rPr>
              <a:t> in </a:t>
            </a:r>
            <a:r>
              <a:rPr lang="sv-SE" sz="1400" dirty="0" err="1">
                <a:latin typeface="Calibri" panose="020F0502020204030204" pitchFamily="34" charset="0"/>
                <a:ea typeface="Calibri" panose="020F0502020204030204" pitchFamily="34" charset="0"/>
                <a:cs typeface="Calibri" panose="020F0502020204030204" pitchFamily="34" charset="0"/>
              </a:rPr>
              <a:t>value</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chain</a:t>
            </a:r>
            <a:endParaRPr lang="sv-SE" sz="1400" dirty="0">
              <a:latin typeface="Calibri" panose="020F0502020204030204" pitchFamily="34" charset="0"/>
              <a:ea typeface="Calibri" panose="020F0502020204030204" pitchFamily="34" charset="0"/>
              <a:cs typeface="Calibri" panose="020F0502020204030204" pitchFamily="34" charset="0"/>
            </a:endParaRPr>
          </a:p>
          <a:p>
            <a:endParaRPr lang="sv-SE" sz="1400" dirty="0">
              <a:latin typeface="Calibri" panose="020F0502020204030204" pitchFamily="34" charset="0"/>
              <a:ea typeface="Calibri" panose="020F0502020204030204" pitchFamily="34" charset="0"/>
              <a:cs typeface="Calibri" panose="020F0502020204030204" pitchFamily="34" charset="0"/>
            </a:endParaRPr>
          </a:p>
          <a:p>
            <a:r>
              <a:rPr lang="sv-SE" sz="1400" b="1" dirty="0" err="1">
                <a:latin typeface="Calibri" panose="020F0502020204030204" pitchFamily="34" charset="0"/>
                <a:ea typeface="Calibri" panose="020F0502020204030204" pitchFamily="34" charset="0"/>
                <a:cs typeface="Calibri" panose="020F0502020204030204" pitchFamily="34" charset="0"/>
              </a:rPr>
              <a:t>Technical</a:t>
            </a:r>
            <a:r>
              <a:rPr lang="sv-SE" sz="1400" b="1" dirty="0">
                <a:latin typeface="Calibri" panose="020F0502020204030204" pitchFamily="34" charset="0"/>
                <a:ea typeface="Calibri" panose="020F0502020204030204" pitchFamily="34" charset="0"/>
                <a:cs typeface="Calibri" panose="020F0502020204030204" pitchFamily="34" charset="0"/>
              </a:rPr>
              <a:t> </a:t>
            </a:r>
            <a:r>
              <a:rPr lang="sv-SE" sz="1400" b="1" dirty="0" err="1">
                <a:latin typeface="Calibri" panose="020F0502020204030204" pitchFamily="34" charset="0"/>
                <a:ea typeface="Calibri" panose="020F0502020204030204" pitchFamily="34" charset="0"/>
                <a:cs typeface="Calibri" panose="020F0502020204030204" pitchFamily="34" charset="0"/>
              </a:rPr>
              <a:t>Impact</a:t>
            </a:r>
            <a:r>
              <a:rPr lang="sv-SE" sz="1400" b="1" dirty="0">
                <a:latin typeface="Calibri" panose="020F0502020204030204" pitchFamily="34" charset="0"/>
                <a:ea typeface="Calibri" panose="020F0502020204030204" pitchFamily="34" charset="0"/>
                <a:cs typeface="Calibri" panose="020F0502020204030204" pitchFamily="34" charset="0"/>
              </a:rPr>
              <a:t>:</a:t>
            </a:r>
            <a:endParaRPr lang="sv-SE"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Designed and developed business applications using .</a:t>
            </a:r>
            <a:r>
              <a:rPr lang="en-US" sz="1400" b="1" dirty="0">
                <a:latin typeface="Calibri" panose="020F0502020204030204" pitchFamily="34" charset="0"/>
                <a:ea typeface="Calibri" panose="020F0502020204030204" pitchFamily="34" charset="0"/>
                <a:cs typeface="Calibri" panose="020F0502020204030204" pitchFamily="34" charset="0"/>
              </a:rPr>
              <a:t>NET, C#, Angular, PL/SQL </a:t>
            </a:r>
            <a:r>
              <a:rPr lang="en-US" sz="1400" dirty="0">
                <a:latin typeface="Calibri" panose="020F0502020204030204" pitchFamily="34" charset="0"/>
                <a:ea typeface="Calibri" panose="020F0502020204030204" pitchFamily="34" charset="0"/>
                <a:cs typeface="Calibri" panose="020F0502020204030204" pitchFamily="34" charset="0"/>
              </a:rPr>
              <a:t>to support </a:t>
            </a:r>
            <a:r>
              <a:rPr lang="en-US" sz="1400" b="1" dirty="0">
                <a:latin typeface="Calibri" panose="020F0502020204030204" pitchFamily="34" charset="0"/>
                <a:ea typeface="Calibri" panose="020F0502020204030204" pitchFamily="34" charset="0"/>
                <a:cs typeface="Calibri" panose="020F0502020204030204" pitchFamily="34" charset="0"/>
              </a:rPr>
              <a:t>IKEA</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dirty="0" err="1">
                <a:latin typeface="Calibri" panose="020F0502020204030204" pitchFamily="34" charset="0"/>
                <a:ea typeface="Calibri" panose="020F0502020204030204" pitchFamily="34" charset="0"/>
                <a:cs typeface="Calibri" panose="020F0502020204030204" pitchFamily="34" charset="0"/>
              </a:rPr>
              <a:t>GS1</a:t>
            </a:r>
            <a:r>
              <a:rPr lang="en-US" sz="1400" dirty="0">
                <a:latin typeface="Calibri" panose="020F0502020204030204" pitchFamily="34" charset="0"/>
                <a:ea typeface="Calibri" panose="020F0502020204030204" pitchFamily="34" charset="0"/>
                <a:cs typeface="Calibri" panose="020F0502020204030204" pitchFamily="34" charset="0"/>
              </a:rPr>
              <a:t> transformation journey.</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Led maturity assessments and impact analyses integrating </a:t>
            </a:r>
            <a:r>
              <a:rPr lang="en-US" sz="1400" dirty="0" err="1">
                <a:latin typeface="Calibri" panose="020F0502020204030204" pitchFamily="34" charset="0"/>
                <a:ea typeface="Calibri" panose="020F0502020204030204" pitchFamily="34" charset="0"/>
                <a:cs typeface="Calibri" panose="020F0502020204030204" pitchFamily="34" charset="0"/>
              </a:rPr>
              <a:t>GS1</a:t>
            </a:r>
            <a:r>
              <a:rPr lang="en-US" sz="1400" dirty="0">
                <a:latin typeface="Calibri" panose="020F0502020204030204" pitchFamily="34" charset="0"/>
                <a:ea typeface="Calibri" panose="020F0502020204030204" pitchFamily="34" charset="0"/>
                <a:cs typeface="Calibri" panose="020F0502020204030204" pitchFamily="34" charset="0"/>
              </a:rPr>
              <a:t> standards into IKEA digital ecosystems, demonstrating </a:t>
            </a:r>
            <a:r>
              <a:rPr lang="en-US" sz="1400" b="1" dirty="0">
                <a:latin typeface="Calibri" panose="020F0502020204030204" pitchFamily="34" charset="0"/>
                <a:ea typeface="Calibri" panose="020F0502020204030204" pitchFamily="34" charset="0"/>
                <a:cs typeface="Calibri" panose="020F0502020204030204" pitchFamily="34" charset="0"/>
              </a:rPr>
              <a:t>analytical and detail-oriented skills</a:t>
            </a:r>
            <a:r>
              <a:rPr lang="en-US" sz="14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sv-SE" sz="1400" dirty="0" err="1">
                <a:latin typeface="Calibri" panose="020F0502020204030204" pitchFamily="34" charset="0"/>
                <a:ea typeface="Calibri" panose="020F0502020204030204" pitchFamily="34" charset="0"/>
                <a:cs typeface="Calibri" panose="020F0502020204030204" pitchFamily="34" charset="0"/>
              </a:rPr>
              <a:t>Built</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secure</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b="1" dirty="0">
                <a:latin typeface="Calibri" panose="020F0502020204030204" pitchFamily="34" charset="0"/>
                <a:ea typeface="Calibri" panose="020F0502020204030204" pitchFamily="34" charset="0"/>
                <a:cs typeface="Calibri" panose="020F0502020204030204" pitchFamily="34" charset="0"/>
              </a:rPr>
              <a:t>REST APIs</a:t>
            </a:r>
            <a:r>
              <a:rPr lang="sv-SE" sz="1400" dirty="0">
                <a:latin typeface="Calibri" panose="020F0502020204030204" pitchFamily="34" charset="0"/>
                <a:ea typeface="Calibri" panose="020F0502020204030204" pitchFamily="34" charset="0"/>
                <a:cs typeface="Calibri" panose="020F0502020204030204" pitchFamily="34" charset="0"/>
              </a:rPr>
              <a:t> and </a:t>
            </a:r>
            <a:r>
              <a:rPr lang="sv-SE" sz="1400" dirty="0" err="1">
                <a:latin typeface="Calibri" panose="020F0502020204030204" pitchFamily="34" charset="0"/>
                <a:ea typeface="Calibri" panose="020F0502020204030204" pitchFamily="34" charset="0"/>
                <a:cs typeface="Calibri" panose="020F0502020204030204" pitchFamily="34" charset="0"/>
              </a:rPr>
              <a:t>microservices</a:t>
            </a:r>
            <a:r>
              <a:rPr lang="sv-SE" sz="1400" dirty="0">
                <a:latin typeface="Calibri" panose="020F0502020204030204" pitchFamily="34" charset="0"/>
                <a:ea typeface="Calibri" panose="020F0502020204030204" pitchFamily="34" charset="0"/>
                <a:cs typeface="Calibri" panose="020F0502020204030204" pitchFamily="34" charset="0"/>
              </a:rPr>
              <a:t> to support </a:t>
            </a:r>
            <a:r>
              <a:rPr lang="sv-SE" sz="1400" dirty="0" err="1">
                <a:latin typeface="Calibri" panose="020F0502020204030204" pitchFamily="34" charset="0"/>
                <a:ea typeface="Calibri" panose="020F0502020204030204" pitchFamily="34" charset="0"/>
                <a:cs typeface="Calibri" panose="020F0502020204030204" pitchFamily="34" charset="0"/>
              </a:rPr>
              <a:t>compliance</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verification</a:t>
            </a:r>
            <a:r>
              <a:rPr lang="sv-SE" sz="1400" dirty="0">
                <a:latin typeface="Calibri" panose="020F0502020204030204" pitchFamily="34" charset="0"/>
                <a:ea typeface="Calibri" panose="020F0502020204030204" pitchFamily="34" charset="0"/>
                <a:cs typeface="Calibri" panose="020F0502020204030204" pitchFamily="34" charset="0"/>
              </a:rPr>
              <a:t> systems. </a:t>
            </a:r>
          </a:p>
          <a:p>
            <a:pPr marL="285750" indent="-285750">
              <a:buFont typeface="Arial" panose="020B0604020202020204" pitchFamily="34" charset="0"/>
              <a:buChar char="•"/>
            </a:pPr>
            <a:r>
              <a:rPr lang="sv-SE" sz="1400" dirty="0" err="1">
                <a:latin typeface="Calibri" panose="020F0502020204030204" pitchFamily="34" charset="0"/>
                <a:ea typeface="Calibri" panose="020F0502020204030204" pitchFamily="34" charset="0"/>
                <a:cs typeface="Calibri" panose="020F0502020204030204" pitchFamily="34" charset="0"/>
              </a:rPr>
              <a:t>Enhanced</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platform</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security</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with</a:t>
            </a:r>
            <a:r>
              <a:rPr lang="sv-SE" sz="1400" dirty="0">
                <a:latin typeface="Calibri" panose="020F0502020204030204" pitchFamily="34" charset="0"/>
                <a:ea typeface="Calibri" panose="020F0502020204030204" pitchFamily="34" charset="0"/>
                <a:cs typeface="Calibri" panose="020F0502020204030204" pitchFamily="34" charset="0"/>
              </a:rPr>
              <a:t> robust </a:t>
            </a:r>
            <a:r>
              <a:rPr lang="sv-SE" sz="1400" dirty="0" err="1">
                <a:latin typeface="Calibri" panose="020F0502020204030204" pitchFamily="34" charset="0"/>
                <a:ea typeface="Calibri" panose="020F0502020204030204" pitchFamily="34" charset="0"/>
                <a:cs typeface="Calibri" panose="020F0502020204030204" pitchFamily="34" charset="0"/>
              </a:rPr>
              <a:t>authentication</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authorization</a:t>
            </a:r>
            <a:r>
              <a:rPr lang="sv-SE" sz="1400" dirty="0">
                <a:latin typeface="Calibri" panose="020F0502020204030204" pitchFamily="34" charset="0"/>
                <a:ea typeface="Calibri" panose="020F0502020204030204" pitchFamily="34" charset="0"/>
                <a:cs typeface="Calibri" panose="020F0502020204030204" pitchFamily="34" charset="0"/>
              </a:rPr>
              <a:t>, and </a:t>
            </a:r>
            <a:r>
              <a:rPr lang="sv-SE" sz="1400" dirty="0" err="1">
                <a:latin typeface="Calibri" panose="020F0502020204030204" pitchFamily="34" charset="0"/>
                <a:ea typeface="Calibri" panose="020F0502020204030204" pitchFamily="34" charset="0"/>
                <a:cs typeface="Calibri" panose="020F0502020204030204" pitchFamily="34" charset="0"/>
              </a:rPr>
              <a:t>standardized</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logging</a:t>
            </a:r>
            <a:r>
              <a:rPr lang="sv-SE" sz="1400" dirty="0">
                <a:latin typeface="Calibri" panose="020F0502020204030204" pitchFamily="34" charset="0"/>
                <a:ea typeface="Calibri" panose="020F0502020204030204" pitchFamily="34" charset="0"/>
                <a:cs typeface="Calibri" panose="020F0502020204030204" pitchFamily="34" charset="0"/>
              </a:rPr>
              <a:t>/</a:t>
            </a:r>
            <a:r>
              <a:rPr lang="sv-SE" sz="1400" dirty="0" err="1">
                <a:latin typeface="Calibri" panose="020F0502020204030204" pitchFamily="34" charset="0"/>
                <a:ea typeface="Calibri" panose="020F0502020204030204" pitchFamily="34" charset="0"/>
                <a:cs typeface="Calibri" panose="020F0502020204030204" pitchFamily="34" charset="0"/>
              </a:rPr>
              <a:t>monitoring</a:t>
            </a:r>
            <a:r>
              <a:rPr lang="sv-SE" sz="14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sv-SE" sz="1400" dirty="0">
                <a:latin typeface="Calibri" panose="020F0502020204030204" pitchFamily="34" charset="0"/>
                <a:ea typeface="Calibri" panose="020F0502020204030204" pitchFamily="34" charset="0"/>
                <a:cs typeface="Calibri" panose="020F0502020204030204" pitchFamily="34" charset="0"/>
              </a:rPr>
              <a:t>Design and </a:t>
            </a:r>
            <a:r>
              <a:rPr lang="sv-SE" sz="1400" dirty="0" err="1">
                <a:latin typeface="Calibri" panose="020F0502020204030204" pitchFamily="34" charset="0"/>
                <a:ea typeface="Calibri" panose="020F0502020204030204" pitchFamily="34" charset="0"/>
                <a:cs typeface="Calibri" panose="020F0502020204030204" pitchFamily="34" charset="0"/>
              </a:rPr>
              <a:t>developed</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database</a:t>
            </a:r>
            <a:r>
              <a:rPr lang="sv-SE" sz="1400" dirty="0">
                <a:latin typeface="Calibri" panose="020F0502020204030204" pitchFamily="34" charset="0"/>
                <a:ea typeface="Calibri" panose="020F0502020204030204" pitchFamily="34" charset="0"/>
                <a:cs typeface="Calibri" panose="020F0502020204030204" pitchFamily="34" charset="0"/>
              </a:rPr>
              <a:t> store </a:t>
            </a:r>
            <a:r>
              <a:rPr lang="sv-SE" sz="1400" dirty="0" err="1">
                <a:latin typeface="Calibri" panose="020F0502020204030204" pitchFamily="34" charset="0"/>
                <a:ea typeface="Calibri" panose="020F0502020204030204" pitchFamily="34" charset="0"/>
                <a:cs typeface="Calibri" panose="020F0502020204030204" pitchFamily="34" charset="0"/>
              </a:rPr>
              <a:t>procedures</a:t>
            </a:r>
            <a:r>
              <a:rPr lang="sv-SE" sz="1400" dirty="0">
                <a:latin typeface="Calibri" panose="020F0502020204030204" pitchFamily="34" charset="0"/>
                <a:ea typeface="Calibri" panose="020F0502020204030204" pitchFamily="34" charset="0"/>
                <a:cs typeface="Calibri" panose="020F0502020204030204" pitchFamily="34" charset="0"/>
              </a:rPr>
              <a:t>, fine </a:t>
            </a:r>
            <a:r>
              <a:rPr lang="sv-SE" sz="1400" dirty="0" err="1">
                <a:latin typeface="Calibri" panose="020F0502020204030204" pitchFamily="34" charset="0"/>
                <a:ea typeface="Calibri" panose="020F0502020204030204" pitchFamily="34" charset="0"/>
                <a:cs typeface="Calibri" panose="020F0502020204030204" pitchFamily="34" charset="0"/>
              </a:rPr>
              <a:t>tuned</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complex</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queries</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implimented</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automated</a:t>
            </a:r>
            <a:r>
              <a:rPr lang="sv-SE" sz="1400" dirty="0">
                <a:latin typeface="Calibri" panose="020F0502020204030204" pitchFamily="34" charset="0"/>
                <a:ea typeface="Calibri" panose="020F0502020204030204" pitchFamily="34" charset="0"/>
                <a:cs typeface="Calibri" panose="020F0502020204030204" pitchFamily="34" charset="0"/>
              </a:rPr>
              <a:t> </a:t>
            </a:r>
            <a:r>
              <a:rPr lang="sv-SE" sz="1400" dirty="0" err="1">
                <a:latin typeface="Calibri" panose="020F0502020204030204" pitchFamily="34" charset="0"/>
                <a:ea typeface="Calibri" panose="020F0502020204030204" pitchFamily="34" charset="0"/>
                <a:cs typeface="Calibri" panose="020F0502020204030204" pitchFamily="34" charset="0"/>
              </a:rPr>
              <a:t>reports</a:t>
            </a:r>
            <a:r>
              <a:rPr lang="sv-SE" sz="1400" dirty="0">
                <a:latin typeface="Calibri" panose="020F0502020204030204" pitchFamily="34" charset="0"/>
                <a:ea typeface="Calibri" panose="020F0502020204030204" pitchFamily="34" charset="0"/>
                <a:cs typeface="Calibri" panose="020F0502020204030204" pitchFamily="34" charset="0"/>
              </a:rPr>
              <a:t> to monitor </a:t>
            </a:r>
            <a:r>
              <a:rPr lang="sv-SE" sz="1400" dirty="0" err="1">
                <a:latin typeface="Calibri" panose="020F0502020204030204" pitchFamily="34" charset="0"/>
                <a:ea typeface="Calibri" panose="020F0502020204030204" pitchFamily="34" charset="0"/>
                <a:cs typeface="Calibri" panose="020F0502020204030204" pitchFamily="34" charset="0"/>
              </a:rPr>
              <a:t>product</a:t>
            </a:r>
            <a:r>
              <a:rPr lang="sv-SE" sz="1400" dirty="0">
                <a:latin typeface="Calibri" panose="020F0502020204030204" pitchFamily="34" charset="0"/>
                <a:ea typeface="Calibri" panose="020F0502020204030204" pitchFamily="34" charset="0"/>
                <a:cs typeface="Calibri" panose="020F0502020204030204" pitchFamily="34" charset="0"/>
              </a:rPr>
              <a:t> master data </a:t>
            </a:r>
            <a:r>
              <a:rPr lang="sv-SE" sz="1400" dirty="0" err="1">
                <a:latin typeface="Calibri" panose="020F0502020204030204" pitchFamily="34" charset="0"/>
                <a:ea typeface="Calibri" panose="020F0502020204030204" pitchFamily="34" charset="0"/>
                <a:cs typeface="Calibri" panose="020F0502020204030204" pitchFamily="34" charset="0"/>
              </a:rPr>
              <a:t>changes</a:t>
            </a:r>
            <a:r>
              <a:rPr lang="sv-SE" sz="1400" dirty="0">
                <a:latin typeface="Calibri" panose="020F0502020204030204" pitchFamily="34" charset="0"/>
                <a:ea typeface="Calibri" panose="020F0502020204030204" pitchFamily="34" charset="0"/>
                <a:cs typeface="Calibri" panose="020F0502020204030204" pitchFamily="34" charset="0"/>
              </a:rPr>
              <a:t>.</a:t>
            </a:r>
            <a:br>
              <a:rPr lang="sv-SE" sz="1400" dirty="0">
                <a:latin typeface="Calibri" panose="020F0502020204030204" pitchFamily="34" charset="0"/>
                <a:ea typeface="Calibri" panose="020F0502020204030204" pitchFamily="34" charset="0"/>
                <a:cs typeface="Calibri" panose="020F0502020204030204" pitchFamily="34" charset="0"/>
              </a:rPr>
            </a:br>
            <a:br>
              <a:rPr lang="sv-SE" sz="1400" dirty="0">
                <a:latin typeface="Calibri" panose="020F0502020204030204" pitchFamily="34" charset="0"/>
                <a:ea typeface="Calibri" panose="020F0502020204030204" pitchFamily="34" charset="0"/>
                <a:cs typeface="Calibri" panose="020F0502020204030204" pitchFamily="34" charset="0"/>
              </a:rPr>
            </a:br>
            <a:endParaRPr lang="sv-SE" sz="1400" dirty="0">
              <a:latin typeface="Calibri" panose="020F0502020204030204" pitchFamily="34" charset="0"/>
              <a:ea typeface="Calibri" panose="020F0502020204030204" pitchFamily="34" charset="0"/>
              <a:cs typeface="Calibri" panose="020F0502020204030204" pitchFamily="34" charset="0"/>
            </a:endParaRPr>
          </a:p>
          <a:p>
            <a:r>
              <a:rPr lang="en-IN" sz="1400" b="1" dirty="0">
                <a:latin typeface="Calibri" panose="020F0502020204030204" pitchFamily="34" charset="0"/>
                <a:cs typeface="Calibri" panose="020F0502020204030204" pitchFamily="34" charset="0"/>
              </a:rPr>
              <a:t>Application Management &amp; Support (AMS Lead, DevOps Engineer)</a:t>
            </a:r>
            <a:r>
              <a:rPr lang="sv-SE" sz="1400" b="1" dirty="0">
                <a:latin typeface="Calibri" panose="020F0502020204030204" pitchFamily="34" charset="0"/>
                <a:cs typeface="Calibri" panose="020F0502020204030204" pitchFamily="34" charset="0"/>
              </a:rPr>
              <a:t>| </a:t>
            </a:r>
            <a:r>
              <a:rPr lang="sv-SE" sz="1400" b="1" dirty="0">
                <a:latin typeface="Calibri" panose="020F0502020204030204" pitchFamily="34" charset="0"/>
                <a:ea typeface="Calibri" panose="020F0502020204030204" pitchFamily="34" charset="0"/>
                <a:cs typeface="Calibri" panose="020F0502020204030204" pitchFamily="34" charset="0"/>
              </a:rPr>
              <a:t>TCS-IKEA Range  | 2017 – 2023</a:t>
            </a:r>
          </a:p>
          <a:p>
            <a:r>
              <a:rPr lang="sv-SE" sz="1400" b="1" dirty="0">
                <a:latin typeface="Calibri" panose="020F0502020204030204" pitchFamily="34" charset="0"/>
                <a:ea typeface="Calibri" panose="020F0502020204030204" pitchFamily="34" charset="0"/>
                <a:cs typeface="Calibri" panose="020F0502020204030204" pitchFamily="34" charset="0"/>
              </a:rPr>
              <a:t>						        Älmhult, Sweden &amp; Chennai, India</a:t>
            </a:r>
          </a:p>
          <a:p>
            <a:r>
              <a:rPr lang="sv-SE" sz="1400" b="1" dirty="0" err="1">
                <a:latin typeface="Calibri" panose="020F0502020204030204" pitchFamily="34" charset="0"/>
                <a:ea typeface="Calibri" panose="020F0502020204030204" pitchFamily="34" charset="0"/>
                <a:cs typeface="Calibri" panose="020F0502020204030204" pitchFamily="34" charset="0"/>
              </a:rPr>
              <a:t>Functional</a:t>
            </a:r>
            <a:r>
              <a:rPr lang="sv-SE" sz="1400" b="1" dirty="0">
                <a:latin typeface="Calibri" panose="020F0502020204030204" pitchFamily="34" charset="0"/>
                <a:ea typeface="Calibri" panose="020F0502020204030204" pitchFamily="34" charset="0"/>
                <a:cs typeface="Calibri" panose="020F0502020204030204" pitchFamily="34" charset="0"/>
              </a:rPr>
              <a:t> </a:t>
            </a:r>
            <a:r>
              <a:rPr lang="sv-SE" sz="1400" b="1" dirty="0" err="1">
                <a:latin typeface="Calibri" panose="020F0502020204030204" pitchFamily="34" charset="0"/>
                <a:ea typeface="Calibri" panose="020F0502020204030204" pitchFamily="34" charset="0"/>
                <a:cs typeface="Calibri" panose="020F0502020204030204" pitchFamily="34" charset="0"/>
              </a:rPr>
              <a:t>Expertise</a:t>
            </a:r>
            <a:r>
              <a:rPr lang="sv-SE" sz="1400" b="1" dirty="0">
                <a:latin typeface="Calibri" panose="020F0502020204030204" pitchFamily="34" charset="0"/>
                <a:ea typeface="Calibri" panose="020F0502020204030204" pitchFamily="34" charset="0"/>
                <a:cs typeface="Calibri" panose="020F0502020204030204" pitchFamily="34" charset="0"/>
              </a:rPr>
              <a:t>:</a:t>
            </a:r>
            <a:endParaRPr lang="sv-SE"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Retail operations, business applications management &amp; end-to-end ownership, stakeholder management, infrastructure governance, SLA governance, lean process improvement, monitoring, performance tuning, automating user requests</a:t>
            </a:r>
          </a:p>
          <a:p>
            <a:endParaRPr lang="en-US" sz="1400" b="1" dirty="0">
              <a:latin typeface="Calibri" panose="020F0502020204030204" pitchFamily="34" charset="0"/>
              <a:ea typeface="Calibri" panose="020F0502020204030204" pitchFamily="34" charset="0"/>
              <a:cs typeface="Calibri" panose="020F0502020204030204" pitchFamily="34" charset="0"/>
            </a:endParaRPr>
          </a:p>
          <a:p>
            <a:r>
              <a:rPr lang="sv-SE" sz="1400" b="1" dirty="0" err="1">
                <a:latin typeface="Calibri" panose="020F0502020204030204" pitchFamily="34" charset="0"/>
                <a:ea typeface="Calibri" panose="020F0502020204030204" pitchFamily="34" charset="0"/>
                <a:cs typeface="Calibri" panose="020F0502020204030204" pitchFamily="34" charset="0"/>
              </a:rPr>
              <a:t>Technical</a:t>
            </a:r>
            <a:r>
              <a:rPr lang="sv-SE" sz="1400" b="1" dirty="0">
                <a:latin typeface="Calibri" panose="020F0502020204030204" pitchFamily="34" charset="0"/>
                <a:ea typeface="Calibri" panose="020F0502020204030204" pitchFamily="34" charset="0"/>
                <a:cs typeface="Calibri" panose="020F0502020204030204" pitchFamily="34" charset="0"/>
              </a:rPr>
              <a:t> </a:t>
            </a:r>
            <a:r>
              <a:rPr lang="sv-SE" sz="1400" b="1" dirty="0" err="1">
                <a:latin typeface="Calibri" panose="020F0502020204030204" pitchFamily="34" charset="0"/>
                <a:ea typeface="Calibri" panose="020F0502020204030204" pitchFamily="34" charset="0"/>
                <a:cs typeface="Calibri" panose="020F0502020204030204" pitchFamily="34" charset="0"/>
              </a:rPr>
              <a:t>Impact</a:t>
            </a:r>
            <a:r>
              <a:rPr lang="sv-SE" sz="1400" b="1" dirty="0">
                <a:latin typeface="Calibri" panose="020F0502020204030204" pitchFamily="34" charset="0"/>
                <a:ea typeface="Calibri" panose="020F0502020204030204" pitchFamily="34" charset="0"/>
                <a:cs typeface="Calibri" panose="020F0502020204030204" pitchFamily="34" charset="0"/>
              </a:rPr>
              <a:t>:</a:t>
            </a:r>
            <a:endParaRPr lang="sv-SE"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Designed and developed 40+ enterprise applications using </a:t>
            </a:r>
            <a:r>
              <a:rPr lang="en-US" sz="1400" b="1" dirty="0">
                <a:latin typeface="Calibri" panose="020F0502020204030204" pitchFamily="34" charset="0"/>
                <a:ea typeface="Calibri" panose="020F0502020204030204" pitchFamily="34" charset="0"/>
                <a:cs typeface="Calibri" panose="020F0502020204030204" pitchFamily="34" charset="0"/>
              </a:rPr>
              <a:t>C#, .NET Core, Angular, PL/SQL, and PostgreSQL</a:t>
            </a:r>
            <a:r>
              <a:rPr lang="en-US" sz="1400" dirty="0">
                <a:latin typeface="Calibri" panose="020F0502020204030204" pitchFamily="34" charset="0"/>
                <a:ea typeface="Calibri" panose="020F0502020204030204" pitchFamily="34" charset="0"/>
                <a:cs typeface="Calibri" panose="020F0502020204030204" pitchFamily="34" charset="0"/>
              </a:rPr>
              <a:t>, improving scalability and maintainability through continuous enhancements and adherence to SDLC.</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Built health monitoring dashboards with Splunk and AppDynamics, increasing proactive issue detection and system reliability by </a:t>
            </a:r>
            <a:r>
              <a:rPr lang="en-US" sz="1400" b="1" dirty="0">
                <a:latin typeface="Calibri" panose="020F0502020204030204" pitchFamily="34" charset="0"/>
                <a:ea typeface="Calibri" panose="020F0502020204030204" pitchFamily="34" charset="0"/>
                <a:cs typeface="Calibri" panose="020F0502020204030204" pitchFamily="34" charset="0"/>
              </a:rPr>
              <a:t>30%.</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Automated recurring user requests by developing a Service Request Engine, reducing lead times by 20% and saving </a:t>
            </a:r>
            <a:r>
              <a:rPr lang="en-US" sz="1400" b="1" dirty="0">
                <a:latin typeface="Calibri" panose="020F0502020204030204" pitchFamily="34" charset="0"/>
                <a:ea typeface="Calibri" panose="020F0502020204030204" pitchFamily="34" charset="0"/>
                <a:cs typeface="Calibri" panose="020F0502020204030204" pitchFamily="34" charset="0"/>
              </a:rPr>
              <a:t>€</a:t>
            </a:r>
            <a:r>
              <a:rPr lang="en-US" sz="1400" b="1" dirty="0" err="1">
                <a:latin typeface="Calibri" panose="020F0502020204030204" pitchFamily="34" charset="0"/>
                <a:ea typeface="Calibri" panose="020F0502020204030204" pitchFamily="34" charset="0"/>
                <a:cs typeface="Calibri" panose="020F0502020204030204" pitchFamily="34" charset="0"/>
              </a:rPr>
              <a:t>100K</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annually.</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Implemented CI/CD pipelines in Azure DevOps and Jenkins, enabling faster and more reliable deployments across multiple environments.</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Led </a:t>
            </a:r>
            <a:r>
              <a:rPr lang="en-US" sz="1400" b="1" dirty="0">
                <a:latin typeface="Calibri" panose="020F0502020204030204" pitchFamily="34" charset="0"/>
                <a:ea typeface="Calibri" panose="020F0502020204030204" pitchFamily="34" charset="0"/>
                <a:cs typeface="Calibri" panose="020F0502020204030204" pitchFamily="34" charset="0"/>
              </a:rPr>
              <a:t>Oracle </a:t>
            </a:r>
            <a:r>
              <a:rPr lang="en-US" sz="1400" b="1" dirty="0" err="1">
                <a:latin typeface="Calibri" panose="020F0502020204030204" pitchFamily="34" charset="0"/>
                <a:ea typeface="Calibri" panose="020F0502020204030204" pitchFamily="34" charset="0"/>
                <a:cs typeface="Calibri" panose="020F0502020204030204" pitchFamily="34" charset="0"/>
              </a:rPr>
              <a:t>12c</a:t>
            </a:r>
            <a:r>
              <a:rPr lang="en-US" sz="1400" b="1" dirty="0">
                <a:latin typeface="Calibri" panose="020F0502020204030204" pitchFamily="34" charset="0"/>
                <a:ea typeface="Calibri" panose="020F0502020204030204" pitchFamily="34" charset="0"/>
                <a:cs typeface="Calibri" panose="020F0502020204030204" pitchFamily="34" charset="0"/>
              </a:rPr>
              <a:t> to </a:t>
            </a:r>
            <a:r>
              <a:rPr lang="en-US" sz="1400" b="1" dirty="0" err="1">
                <a:latin typeface="Calibri" panose="020F0502020204030204" pitchFamily="34" charset="0"/>
                <a:ea typeface="Calibri" panose="020F0502020204030204" pitchFamily="34" charset="0"/>
                <a:cs typeface="Calibri" panose="020F0502020204030204" pitchFamily="34" charset="0"/>
              </a:rPr>
              <a:t>19c</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database migration, coordinating </a:t>
            </a:r>
            <a:r>
              <a:rPr lang="en-US" sz="1400" b="1" dirty="0">
                <a:latin typeface="Calibri" panose="020F0502020204030204" pitchFamily="34" charset="0"/>
                <a:ea typeface="Calibri" panose="020F0502020204030204" pitchFamily="34" charset="0"/>
                <a:cs typeface="Calibri" panose="020F0502020204030204" pitchFamily="34" charset="0"/>
              </a:rPr>
              <a:t>20+ </a:t>
            </a:r>
            <a:r>
              <a:rPr lang="en-US" sz="1400" dirty="0">
                <a:latin typeface="Calibri" panose="020F0502020204030204" pitchFamily="34" charset="0"/>
                <a:ea typeface="Calibri" panose="020F0502020204030204" pitchFamily="34" charset="0"/>
                <a:cs typeface="Calibri" panose="020F0502020204030204" pitchFamily="34" charset="0"/>
              </a:rPr>
              <a:t>cross-functional teams to ensure zero business disruption during all phases.</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Fine-tuned long-running SQL queries and optimized database jobs, improving performance and operational stability.</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Proactively identified and decommissioned 30 unused Windows and database services, resulting in </a:t>
            </a:r>
            <a:r>
              <a:rPr lang="en-US" sz="1400" b="1" dirty="0">
                <a:latin typeface="Calibri" panose="020F0502020204030204" pitchFamily="34" charset="0"/>
                <a:ea typeface="Calibri" panose="020F0502020204030204" pitchFamily="34" charset="0"/>
                <a:cs typeface="Calibri" panose="020F0502020204030204" pitchFamily="34" charset="0"/>
              </a:rPr>
              <a:t>€</a:t>
            </a:r>
            <a:r>
              <a:rPr lang="en-US" sz="1400" b="1" dirty="0" err="1">
                <a:latin typeface="Calibri" panose="020F0502020204030204" pitchFamily="34" charset="0"/>
                <a:ea typeface="Calibri" panose="020F0502020204030204" pitchFamily="34" charset="0"/>
                <a:cs typeface="Calibri" panose="020F0502020204030204" pitchFamily="34" charset="0"/>
              </a:rPr>
              <a:t>1M</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cost savings.</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Developed structured logging and monitoring strategies using Splunk, Catchpoint, and AppDynamics to improve application quality and prevent production issues.</a:t>
            </a:r>
          </a:p>
          <a:p>
            <a:pPr marL="285750" indent="-285750">
              <a:buFont typeface="Arial" panose="020B0604020202020204" pitchFamily="34" charset="0"/>
              <a:buChar char="•"/>
            </a:pPr>
            <a:r>
              <a:rPr lang="en-US" sz="1400" dirty="0">
                <a:latin typeface="Calibri" panose="020F0502020204030204" pitchFamily="34" charset="0"/>
                <a:ea typeface="Calibri" panose="020F0502020204030204" pitchFamily="34" charset="0"/>
                <a:cs typeface="Calibri" panose="020F0502020204030204" pitchFamily="34" charset="0"/>
              </a:rPr>
              <a:t>Received </a:t>
            </a:r>
            <a:r>
              <a:rPr lang="en-US" sz="1400" b="1" dirty="0">
                <a:latin typeface="Calibri" panose="020F0502020204030204" pitchFamily="34" charset="0"/>
                <a:ea typeface="Calibri" panose="020F0502020204030204" pitchFamily="34" charset="0"/>
                <a:cs typeface="Calibri" panose="020F0502020204030204" pitchFamily="34" charset="0"/>
              </a:rPr>
              <a:t>Contextual Master Award </a:t>
            </a:r>
            <a:r>
              <a:rPr lang="en-US" sz="1400" dirty="0">
                <a:latin typeface="Calibri" panose="020F0502020204030204" pitchFamily="34" charset="0"/>
                <a:ea typeface="Calibri" panose="020F0502020204030204" pitchFamily="34" charset="0"/>
                <a:cs typeface="Calibri" panose="020F0502020204030204" pitchFamily="34" charset="0"/>
              </a:rPr>
              <a:t>for designing an automation solution that fixed a critical pricing logic flaw, generating </a:t>
            </a:r>
            <a:r>
              <a:rPr lang="en-US" sz="1400" b="1" dirty="0">
                <a:latin typeface="Calibri" panose="020F0502020204030204" pitchFamily="34" charset="0"/>
                <a:ea typeface="Calibri" panose="020F0502020204030204" pitchFamily="34" charset="0"/>
                <a:cs typeface="Calibri" panose="020F0502020204030204" pitchFamily="34" charset="0"/>
              </a:rPr>
              <a:t>€</a:t>
            </a:r>
            <a:r>
              <a:rPr lang="en-US" sz="1400" b="1" dirty="0" err="1">
                <a:latin typeface="Calibri" panose="020F0502020204030204" pitchFamily="34" charset="0"/>
                <a:ea typeface="Calibri" panose="020F0502020204030204" pitchFamily="34" charset="0"/>
                <a:cs typeface="Calibri" panose="020F0502020204030204" pitchFamily="34" charset="0"/>
              </a:rPr>
              <a:t>2M</a:t>
            </a:r>
            <a:r>
              <a:rPr lang="en-US" sz="1400" b="1"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in </a:t>
            </a:r>
            <a:r>
              <a:rPr lang="en-US" sz="1400">
                <a:latin typeface="Calibri" panose="020F0502020204030204" pitchFamily="34" charset="0"/>
                <a:ea typeface="Calibri" panose="020F0502020204030204" pitchFamily="34" charset="0"/>
                <a:cs typeface="Calibri" panose="020F0502020204030204" pitchFamily="34" charset="0"/>
              </a:rPr>
              <a:t>business savings.</a:t>
            </a:r>
            <a:br>
              <a:rPr lang="sv-SE" sz="1400" dirty="0">
                <a:latin typeface="Calibri" panose="020F0502020204030204" pitchFamily="34" charset="0"/>
                <a:ea typeface="Calibri" panose="020F0502020204030204" pitchFamily="34" charset="0"/>
                <a:cs typeface="Calibri" panose="020F0502020204030204" pitchFamily="34" charset="0"/>
              </a:rPr>
            </a:br>
            <a:endParaRPr lang="sv-SE" sz="1400" dirty="0">
              <a:latin typeface="Calibri" panose="020F0502020204030204" pitchFamily="34" charset="0"/>
              <a:ea typeface="Calibri" panose="020F0502020204030204" pitchFamily="34" charset="0"/>
              <a:cs typeface="Calibri" panose="020F0502020204030204" pitchFamily="34" charset="0"/>
            </a:endParaRPr>
          </a:p>
          <a:p>
            <a:br>
              <a:rPr lang="sv-SE" sz="1400" dirty="0">
                <a:latin typeface="Calibri" panose="020F0502020204030204" pitchFamily="34" charset="0"/>
                <a:ea typeface="Calibri" panose="020F0502020204030204" pitchFamily="34" charset="0"/>
                <a:cs typeface="Calibri" panose="020F0502020204030204" pitchFamily="34" charset="0"/>
              </a:rPr>
            </a:br>
            <a:endParaRPr lang="sv-SE" sz="1400" dirty="0">
              <a:latin typeface="Calibri" panose="020F0502020204030204" pitchFamily="34" charset="0"/>
              <a:ea typeface="Calibri" panose="020F0502020204030204" pitchFamily="34" charset="0"/>
              <a:cs typeface="Calibri" panose="020F0502020204030204" pitchFamily="34" charset="0"/>
            </a:endParaRPr>
          </a:p>
          <a:p>
            <a:endParaRPr lang="sv-SE" sz="1400" dirty="0">
              <a:latin typeface="Calibri" panose="020F0502020204030204" pitchFamily="34" charset="0"/>
              <a:ea typeface="Calibri" panose="020F0502020204030204" pitchFamily="34" charset="0"/>
              <a:cs typeface="Calibri" panose="020F0502020204030204" pitchFamily="34" charset="0"/>
            </a:endParaRPr>
          </a:p>
          <a:p>
            <a:br>
              <a:rPr lang="sv-SE" sz="1400" dirty="0">
                <a:latin typeface="Calibri" panose="020F0502020204030204" pitchFamily="34" charset="0"/>
                <a:ea typeface="Calibri" panose="020F0502020204030204" pitchFamily="34" charset="0"/>
                <a:cs typeface="Calibri" panose="020F0502020204030204" pitchFamily="34" charset="0"/>
              </a:rPr>
            </a:br>
            <a:endParaRPr lang="sv-SE" sz="1400" dirty="0">
              <a:latin typeface="Calibri" panose="020F0502020204030204" pitchFamily="34" charset="0"/>
              <a:ea typeface="Calibri" panose="020F0502020204030204" pitchFamily="34" charset="0"/>
              <a:cs typeface="Calibri" panose="020F0502020204030204" pitchFamily="34" charset="0"/>
            </a:endParaRPr>
          </a:p>
          <a:p>
            <a:pPr marL="635" algn="just">
              <a:buClr>
                <a:srgbClr val="000000"/>
              </a:buClr>
            </a:pPr>
            <a:endParaRPr lang="en-IN" altLang="en-US" sz="1400" b="1" dirty="0">
              <a:latin typeface="Calibri" panose="020F0502020204030204" pitchFamily="34" charset="0"/>
              <a:ea typeface="Calibri" panose="020F0502020204030204" pitchFamily="34" charset="0"/>
              <a:cs typeface="Calibri" panose="020F0502020204030204" pitchFamily="34" charset="0"/>
            </a:endParaRPr>
          </a:p>
        </p:txBody>
      </p:sp>
      <p:sp>
        <p:nvSpPr>
          <p:cNvPr id="65" name="Footer Placeholder 17"/>
          <p:cNvSpPr/>
          <p:nvPr/>
        </p:nvSpPr>
        <p:spPr>
          <a:xfrm>
            <a:off x="7621560" y="12202200"/>
            <a:ext cx="1416600" cy="34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IN" sz="1260" b="0" strike="noStrike" spc="-1" dirty="0">
                <a:solidFill>
                  <a:srgbClr val="787878"/>
                </a:solidFill>
                <a:latin typeface="Aptos"/>
                <a:ea typeface="DejaVu Sans"/>
              </a:rPr>
              <a:t>TCS Confidential</a:t>
            </a:r>
            <a:endParaRPr lang="en-IN" sz="1260" b="0" strike="noStrike" spc="-1" dirty="0">
              <a:latin typeface="Arial"/>
            </a:endParaRPr>
          </a:p>
        </p:txBody>
      </p:sp>
      <p:sp>
        <p:nvSpPr>
          <p:cNvPr id="2" name="TextBox 16"/>
          <p:cNvSpPr/>
          <p:nvPr/>
        </p:nvSpPr>
        <p:spPr>
          <a:xfrm>
            <a:off x="424800" y="3719962"/>
            <a:ext cx="2844011"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endParaRPr lang="en-IN" sz="1400" b="1"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IN" sz="1400" dirty="0">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f945650-ec40-41a9-9362-7e2addda4452}" enabled="1" method="Standard" siteId="{a33c6ac4-a52e-45c5-af07-b972df9bd004}" removed="0"/>
  <clbl:label id="{404b1967-6507-45ab-8a6d-7374a3f478be}" enabled="0" method="" siteId="{404b1967-6507-45ab-8a6d-7374a3f478be}" removed="1"/>
  <clbl:label id="{64522a4d-f12f-4888-8028-d80fdde3b7d9}" enabled="1" method="Privileged" siteId="{9a8ff9e3-0e35-4620-a724-e9834dc50b51}" removed="0"/>
</clbl:labelList>
</file>

<file path=docProps/app.xml><?xml version="1.0" encoding="utf-8"?>
<Properties xmlns="http://schemas.openxmlformats.org/officeDocument/2006/extended-properties" xmlns:vt="http://schemas.openxmlformats.org/officeDocument/2006/docPropsVTypes">
  <Template>Office Theme</Template>
  <TotalTime>312</TotalTime>
  <Words>1015</Words>
  <Application>Microsoft Office PowerPoint</Application>
  <PresentationFormat>A3 Paper (297x420 mm)</PresentationFormat>
  <Paragraphs>82</Paragraphs>
  <Slides>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Aptos</vt:lpstr>
      <vt:lpstr>Arial</vt:lpstr>
      <vt:lpstr>Calibri</vt:lpstr>
      <vt:lpstr>Noto IKEA Latin</vt:lpstr>
      <vt:lpstr>Symbol</vt:lpstr>
      <vt:lpstr>Trebuchet MS</vt:lpstr>
      <vt:lpstr>Wingdings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Deepak Balakrishnan</dc:creator>
  <dc:description/>
  <cp:lastModifiedBy>Appala Naidu Kolli (External - TATA Consultancy Services Sverige AB)</cp:lastModifiedBy>
  <cp:revision>920</cp:revision>
  <dcterms:created xsi:type="dcterms:W3CDTF">2024-03-11T08:02:19Z</dcterms:created>
  <dcterms:modified xsi:type="dcterms:W3CDTF">2025-12-04T19:18:16Z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A3 Paper (297x420 mm)</vt:lpwstr>
  </property>
  <property fmtid="{D5CDD505-2E9C-101B-9397-08002B2CF9AE}" pid="3" name="Slides">
    <vt:i4>3</vt:i4>
  </property>
  <property fmtid="{D5CDD505-2E9C-101B-9397-08002B2CF9AE}" pid="4" name="ClassificationContentMarkingFooterLocations">
    <vt:lpwstr>Office Theme:5</vt:lpwstr>
  </property>
  <property fmtid="{D5CDD505-2E9C-101B-9397-08002B2CF9AE}" pid="5" name="ClassificationContentMarkingFooterText">
    <vt:lpwstr>Internal</vt:lpwstr>
  </property>
</Properties>
</file>